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image" Target="../media/image3.jpg"/><Relationship Id="rId6" Type="http://schemas.openxmlformats.org/officeDocument/2006/relationships/image" Target="../media/image39.jpg"/><Relationship Id="rId7" Type="http://schemas.openxmlformats.org/officeDocument/2006/relationships/image" Target="../media/image40.jpg"/><Relationship Id="rId8" Type="http://schemas.openxmlformats.org/officeDocument/2006/relationships/image" Target="../media/image41.jpg"/><Relationship Id="rId9" Type="http://schemas.openxmlformats.org/officeDocument/2006/relationships/image" Target="../media/image4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jpg"/><Relationship Id="rId4" Type="http://schemas.openxmlformats.org/officeDocument/2006/relationships/image" Target="../media/image45.jpg"/><Relationship Id="rId5" Type="http://schemas.openxmlformats.org/officeDocument/2006/relationships/image" Target="../media/image46.jpg"/><Relationship Id="rId6" Type="http://schemas.openxmlformats.org/officeDocument/2006/relationships/image" Target="../media/image47.jpg"/><Relationship Id="rId7" Type="http://schemas.openxmlformats.org/officeDocument/2006/relationships/image" Target="../media/image48.jpg"/><Relationship Id="rId8" Type="http://schemas.openxmlformats.org/officeDocument/2006/relationships/image" Target="../media/image49.jpg"/><Relationship Id="rId9" Type="http://schemas.openxmlformats.org/officeDocument/2006/relationships/image" Target="../media/image5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Rounded Rectangle 1"/>
          <p:cNvSpPr/>
          <p:nvPr/>
        </p:nvSpPr>
        <p:spPr>
          <a:xfrm>
            <a:off x="658368" y="566928"/>
            <a:ext cx="274320" cy="274320"/>
          </a:xfrm>
          <a:prstGeom prst="roundRect">
            <a:avLst>
              <a:gd name="adj" fmla="val 22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08076"/>
            <a:ext cx="274320" cy="201168"/>
          </a:xfrm>
          <a:prstGeom prst="rect">
            <a:avLst/>
          </a:prstGeom>
          <a:noFill/>
        </p:spPr>
        <p:txBody>
          <a:bodyPr wrap="square" lIns="0" rIns="0" tIns="0" bIns="0">
            <a:spAutoFit/>
          </a:bodyPr>
          <a:lstStyle/>
          <a:p>
            <a:pPr algn="ctr">
              <a:spcBef>
                <a:spcPts val="0"/>
              </a:spcBef>
              <a:spcAft>
                <a:spcPts val="0"/>
              </a:spcAft>
            </a:pPr>
            <a:r>
              <a:rPr sz="1200" b="1">
                <a:solidFill>
                  <a:srgbClr val="14201B"/>
                </a:solidFill>
                <a:latin typeface="Helvetica Neue"/>
              </a:rPr>
              <a:t>B</a:t>
            </a:r>
          </a:p>
        </p:txBody>
      </p:sp>
      <p:sp>
        <p:nvSpPr>
          <p:cNvPr id="4" name="TextBox 3"/>
          <p:cNvSpPr txBox="1"/>
          <p:nvPr/>
        </p:nvSpPr>
        <p:spPr>
          <a:xfrm>
            <a:off x="1042416" y="603504"/>
            <a:ext cx="3657600" cy="237744"/>
          </a:xfrm>
          <a:prstGeom prst="rect">
            <a:avLst/>
          </a:prstGeom>
          <a:noFill/>
        </p:spPr>
        <p:txBody>
          <a:bodyPr wrap="square" lIns="0" rIns="0" tIns="0" bIns="0">
            <a:spAutoFit/>
          </a:bodyPr>
          <a:lstStyle/>
          <a:p>
            <a:pPr>
              <a:spcBef>
                <a:spcPts val="0"/>
              </a:spcBef>
              <a:spcAft>
                <a:spcPts val="0"/>
              </a:spcAft>
            </a:pPr>
            <a:r>
              <a:rPr sz="1050" b="1">
                <a:solidFill>
                  <a:srgbClr val="8FC9AE"/>
                </a:solidFill>
                <a:latin typeface="Menlo"/>
              </a:rPr>
              <a:t>B o o t h P O S</a:t>
            </a:r>
          </a:p>
        </p:txBody>
      </p:sp>
      <p:sp>
        <p:nvSpPr>
          <p:cNvPr id="5" name="TextBox 4"/>
          <p:cNvSpPr txBox="1"/>
          <p:nvPr/>
        </p:nvSpPr>
        <p:spPr>
          <a:xfrm>
            <a:off x="658368" y="1371600"/>
            <a:ext cx="6766560" cy="2194560"/>
          </a:xfrm>
          <a:prstGeom prst="rect">
            <a:avLst/>
          </a:prstGeom>
          <a:noFill/>
        </p:spPr>
        <p:txBody>
          <a:bodyPr wrap="square" lIns="0" rIns="0" tIns="0" bIns="0">
            <a:spAutoFit/>
          </a:bodyPr>
          <a:lstStyle/>
          <a:p>
            <a:pPr>
              <a:lnSpc>
                <a:spcPct val="104000"/>
              </a:lnSpc>
              <a:spcBef>
                <a:spcPts val="0"/>
              </a:spcBef>
              <a:spcAft>
                <a:spcPts val="0"/>
              </a:spcAft>
            </a:pPr>
            <a:r>
              <a:rPr sz="4000" b="1">
                <a:solidFill>
                  <a:srgbClr val="FFFFFF"/>
                </a:solidFill>
                <a:latin typeface="Helvetica Neue"/>
              </a:rPr>
              <a:t>The till keeps running
when the venue wifi dies.</a:t>
            </a:r>
          </a:p>
        </p:txBody>
      </p:sp>
      <p:sp>
        <p:nvSpPr>
          <p:cNvPr id="6" name="TextBox 5"/>
          <p:cNvSpPr txBox="1"/>
          <p:nvPr/>
        </p:nvSpPr>
        <p:spPr>
          <a:xfrm>
            <a:off x="658368" y="3310128"/>
            <a:ext cx="6309360" cy="1188720"/>
          </a:xfrm>
          <a:prstGeom prst="rect">
            <a:avLst/>
          </a:prstGeom>
          <a:noFill/>
        </p:spPr>
        <p:txBody>
          <a:bodyPr wrap="square" lIns="0" rIns="0" tIns="0" bIns="0">
            <a:spAutoFit/>
          </a:bodyPr>
          <a:lstStyle/>
          <a:p>
            <a:pPr>
              <a:lnSpc>
                <a:spcPct val="142000"/>
              </a:lnSpc>
              <a:spcBef>
                <a:spcPts val="0"/>
              </a:spcBef>
              <a:spcAft>
                <a:spcPts val="0"/>
              </a:spcAft>
            </a:pPr>
            <a:r>
              <a:rPr sz="1300" b="0">
                <a:solidFill>
                  <a:srgbClr val="9DB0A7"/>
                </a:solidFill>
                <a:latin typeface="Helvetica Neue"/>
              </a:rPr>
              <a:t>A point-of-sale system for event merchandise booths shared by several independent artists. It runs entirely on one laptop, ties every sale to an event and to the seller who owns the item, and hands you each artist's share the moment the doors close.</a:t>
            </a:r>
          </a:p>
        </p:txBody>
      </p:sp>
      <p:sp>
        <p:nvSpPr>
          <p:cNvPr id="7" name="Rounded Rectangle 6"/>
          <p:cNvSpPr/>
          <p:nvPr/>
        </p:nvSpPr>
        <p:spPr>
          <a:xfrm>
            <a:off x="658368" y="4645152"/>
            <a:ext cx="1415491" cy="292608"/>
          </a:xfrm>
          <a:prstGeom prst="roundRect">
            <a:avLst>
              <a:gd name="adj" fmla="val 50000"/>
            </a:avLst>
          </a:prstGeom>
          <a:noFill/>
          <a:ln w="9525">
            <a:solidFill>
              <a:srgbClr val="2F9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709160"/>
            <a:ext cx="1415491" cy="182880"/>
          </a:xfrm>
          <a:prstGeom prst="rect">
            <a:avLst/>
          </a:prstGeom>
          <a:noFill/>
        </p:spPr>
        <p:txBody>
          <a:bodyPr wrap="square" lIns="0" rIns="0" tIns="0" bIns="0">
            <a:spAutoFit/>
          </a:bodyPr>
          <a:lstStyle/>
          <a:p>
            <a:pPr algn="ctr">
              <a:spcBef>
                <a:spcPts val="0"/>
              </a:spcBef>
              <a:spcAft>
                <a:spcPts val="0"/>
              </a:spcAft>
            </a:pPr>
            <a:r>
              <a:rPr sz="900" b="0">
                <a:solidFill>
                  <a:srgbClr val="8FC9AE"/>
                </a:solidFill>
                <a:latin typeface="Helvetica Neue"/>
              </a:rPr>
              <a:t>One-time licence</a:t>
            </a:r>
          </a:p>
        </p:txBody>
      </p:sp>
      <p:sp>
        <p:nvSpPr>
          <p:cNvPr id="9" name="Rounded Rectangle 8"/>
          <p:cNvSpPr/>
          <p:nvPr/>
        </p:nvSpPr>
        <p:spPr>
          <a:xfrm>
            <a:off x="2165299" y="4645152"/>
            <a:ext cx="2057400" cy="292608"/>
          </a:xfrm>
          <a:prstGeom prst="roundRect">
            <a:avLst>
              <a:gd name="adj" fmla="val 50000"/>
            </a:avLst>
          </a:prstGeom>
          <a:noFill/>
          <a:ln w="9525">
            <a:solidFill>
              <a:srgbClr val="2F9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5299" y="4709160"/>
            <a:ext cx="2057400" cy="182880"/>
          </a:xfrm>
          <a:prstGeom prst="rect">
            <a:avLst/>
          </a:prstGeom>
          <a:noFill/>
        </p:spPr>
        <p:txBody>
          <a:bodyPr wrap="square" lIns="0" rIns="0" tIns="0" bIns="0">
            <a:spAutoFit/>
          </a:bodyPr>
          <a:lstStyle/>
          <a:p>
            <a:pPr algn="ctr">
              <a:spcBef>
                <a:spcPts val="0"/>
              </a:spcBef>
              <a:spcAft>
                <a:spcPts val="0"/>
              </a:spcAft>
            </a:pPr>
            <a:r>
              <a:rPr sz="900" b="0">
                <a:solidFill>
                  <a:srgbClr val="8FC9AE"/>
                </a:solidFill>
                <a:latin typeface="Helvetica Neue"/>
              </a:rPr>
              <a:t>No cloud, no subscription</a:t>
            </a:r>
          </a:p>
        </p:txBody>
      </p:sp>
      <p:sp>
        <p:nvSpPr>
          <p:cNvPr id="11" name="Rounded Rectangle 10"/>
          <p:cNvSpPr/>
          <p:nvPr/>
        </p:nvSpPr>
        <p:spPr>
          <a:xfrm>
            <a:off x="4314139" y="4645152"/>
            <a:ext cx="1629460" cy="292608"/>
          </a:xfrm>
          <a:prstGeom prst="roundRect">
            <a:avLst>
              <a:gd name="adj" fmla="val 50000"/>
            </a:avLst>
          </a:prstGeom>
          <a:noFill/>
          <a:ln w="9525">
            <a:solidFill>
              <a:srgbClr val="2F9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4139" y="4709160"/>
            <a:ext cx="1629460" cy="182880"/>
          </a:xfrm>
          <a:prstGeom prst="rect">
            <a:avLst/>
          </a:prstGeom>
          <a:noFill/>
        </p:spPr>
        <p:txBody>
          <a:bodyPr wrap="square" lIns="0" rIns="0" tIns="0" bIns="0">
            <a:spAutoFit/>
          </a:bodyPr>
          <a:lstStyle/>
          <a:p>
            <a:pPr algn="ctr">
              <a:spcBef>
                <a:spcPts val="0"/>
              </a:spcBef>
              <a:spcAft>
                <a:spcPts val="0"/>
              </a:spcAft>
            </a:pPr>
            <a:r>
              <a:rPr sz="900" b="0">
                <a:solidFill>
                  <a:srgbClr val="8FC9AE"/>
                </a:solidFill>
                <a:latin typeface="Helvetica Neue"/>
              </a:rPr>
              <a:t>Works fully offline</a:t>
            </a:r>
          </a:p>
        </p:txBody>
      </p:sp>
      <p:sp>
        <p:nvSpPr>
          <p:cNvPr id="13" name="Rounded Rectangle 12"/>
          <p:cNvSpPr/>
          <p:nvPr/>
        </p:nvSpPr>
        <p:spPr>
          <a:xfrm>
            <a:off x="7699248" y="3246120"/>
            <a:ext cx="1828800" cy="932688"/>
          </a:xfrm>
          <a:prstGeom prst="roundRect">
            <a:avLst>
              <a:gd name="adj" fmla="val 4000"/>
            </a:avLst>
          </a:prstGeom>
          <a:solidFill>
            <a:srgbClr val="22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3364992"/>
            <a:ext cx="1554480" cy="713232"/>
          </a:xfrm>
          <a:prstGeom prst="rect">
            <a:avLst/>
          </a:prstGeom>
          <a:noFill/>
        </p:spPr>
        <p:txBody>
          <a:bodyPr wrap="square" lIns="0" rIns="0" tIns="0" bIns="0">
            <a:spAutoFit/>
          </a:bodyPr>
          <a:lstStyle/>
          <a:p>
            <a:pPr>
              <a:spcBef>
                <a:spcPts val="0"/>
              </a:spcBef>
              <a:spcAft>
                <a:spcPts val="0"/>
              </a:spcAft>
            </a:pPr>
            <a:r>
              <a:rPr sz="750" b="0">
                <a:solidFill>
                  <a:srgbClr val="9DB0A7"/>
                </a:solidFill>
                <a:latin typeface="Menlo"/>
              </a:rPr>
              <a:t>SCREENS</a:t>
            </a:r>
          </a:p>
          <a:p>
            <a:pPr>
              <a:spcBef>
                <a:spcPts val="300"/>
              </a:spcBef>
              <a:spcAft>
                <a:spcPts val="0"/>
              </a:spcAft>
            </a:pPr>
            <a:r>
              <a:rPr sz="1700" b="1">
                <a:solidFill>
                  <a:srgbClr val="FFFFFF"/>
                </a:solidFill>
                <a:latin typeface="Helvetica Neue"/>
              </a:rPr>
              <a:t>27</a:t>
            </a:r>
          </a:p>
          <a:p>
            <a:pPr>
              <a:spcBef>
                <a:spcPts val="100"/>
              </a:spcBef>
              <a:spcAft>
                <a:spcPts val="0"/>
              </a:spcAft>
            </a:pPr>
            <a:r>
              <a:rPr sz="750" b="0">
                <a:solidFill>
                  <a:srgbClr val="8FC9AE"/>
                </a:solidFill>
                <a:latin typeface="Helvetica Neue"/>
              </a:rPr>
              <a:t>plus 48 components</a:t>
            </a:r>
          </a:p>
        </p:txBody>
      </p:sp>
      <p:sp>
        <p:nvSpPr>
          <p:cNvPr id="15" name="Rounded Rectangle 14"/>
          <p:cNvSpPr/>
          <p:nvPr/>
        </p:nvSpPr>
        <p:spPr>
          <a:xfrm>
            <a:off x="9619488" y="3246120"/>
            <a:ext cx="1828800" cy="932688"/>
          </a:xfrm>
          <a:prstGeom prst="roundRect">
            <a:avLst>
              <a:gd name="adj" fmla="val 4000"/>
            </a:avLst>
          </a:prstGeom>
          <a:solidFill>
            <a:srgbClr val="22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65792" y="3364992"/>
            <a:ext cx="1554480" cy="713232"/>
          </a:xfrm>
          <a:prstGeom prst="rect">
            <a:avLst/>
          </a:prstGeom>
          <a:noFill/>
        </p:spPr>
        <p:txBody>
          <a:bodyPr wrap="square" lIns="0" rIns="0" tIns="0" bIns="0">
            <a:spAutoFit/>
          </a:bodyPr>
          <a:lstStyle/>
          <a:p>
            <a:pPr>
              <a:spcBef>
                <a:spcPts val="0"/>
              </a:spcBef>
              <a:spcAft>
                <a:spcPts val="0"/>
              </a:spcAft>
            </a:pPr>
            <a:r>
              <a:rPr sz="750" b="0">
                <a:solidFill>
                  <a:srgbClr val="9DB0A7"/>
                </a:solidFill>
                <a:latin typeface="Menlo"/>
              </a:rPr>
              <a:t>ENDPOINTS</a:t>
            </a:r>
          </a:p>
          <a:p>
            <a:pPr>
              <a:spcBef>
                <a:spcPts val="300"/>
              </a:spcBef>
              <a:spcAft>
                <a:spcPts val="0"/>
              </a:spcAft>
            </a:pPr>
            <a:r>
              <a:rPr sz="1700" b="1">
                <a:solidFill>
                  <a:srgbClr val="FFFFFF"/>
                </a:solidFill>
                <a:latin typeface="Helvetica Neue"/>
              </a:rPr>
              <a:t>159</a:t>
            </a:r>
          </a:p>
          <a:p>
            <a:pPr>
              <a:spcBef>
                <a:spcPts val="100"/>
              </a:spcBef>
              <a:spcAft>
                <a:spcPts val="0"/>
              </a:spcAft>
            </a:pPr>
            <a:r>
              <a:rPr sz="750" b="0">
                <a:solidFill>
                  <a:srgbClr val="8FC9AE"/>
                </a:solidFill>
                <a:latin typeface="Helvetica Neue"/>
              </a:rPr>
              <a:t>REST API</a:t>
            </a:r>
          </a:p>
        </p:txBody>
      </p:sp>
      <p:sp>
        <p:nvSpPr>
          <p:cNvPr id="17" name="Rounded Rectangle 16"/>
          <p:cNvSpPr/>
          <p:nvPr/>
        </p:nvSpPr>
        <p:spPr>
          <a:xfrm>
            <a:off x="7699248" y="4270248"/>
            <a:ext cx="1828800" cy="932688"/>
          </a:xfrm>
          <a:prstGeom prst="roundRect">
            <a:avLst>
              <a:gd name="adj" fmla="val 4000"/>
            </a:avLst>
          </a:prstGeom>
          <a:solidFill>
            <a:srgbClr val="22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5552" y="4389120"/>
            <a:ext cx="1554480" cy="713232"/>
          </a:xfrm>
          <a:prstGeom prst="rect">
            <a:avLst/>
          </a:prstGeom>
          <a:noFill/>
        </p:spPr>
        <p:txBody>
          <a:bodyPr wrap="square" lIns="0" rIns="0" tIns="0" bIns="0">
            <a:spAutoFit/>
          </a:bodyPr>
          <a:lstStyle/>
          <a:p>
            <a:pPr>
              <a:spcBef>
                <a:spcPts val="0"/>
              </a:spcBef>
              <a:spcAft>
                <a:spcPts val="0"/>
              </a:spcAft>
            </a:pPr>
            <a:r>
              <a:rPr sz="750" b="0">
                <a:solidFill>
                  <a:srgbClr val="9DB0A7"/>
                </a:solidFill>
                <a:latin typeface="Menlo"/>
              </a:rPr>
              <a:t>AUTOMATED TESTS</a:t>
            </a:r>
          </a:p>
          <a:p>
            <a:pPr>
              <a:spcBef>
                <a:spcPts val="300"/>
              </a:spcBef>
              <a:spcAft>
                <a:spcPts val="0"/>
              </a:spcAft>
            </a:pPr>
            <a:r>
              <a:rPr sz="1700" b="1">
                <a:solidFill>
                  <a:srgbClr val="FFFFFF"/>
                </a:solidFill>
                <a:latin typeface="Helvetica Neue"/>
              </a:rPr>
              <a:t>715</a:t>
            </a:r>
          </a:p>
          <a:p>
            <a:pPr>
              <a:spcBef>
                <a:spcPts val="100"/>
              </a:spcBef>
              <a:spcAft>
                <a:spcPts val="0"/>
              </a:spcAft>
            </a:pPr>
            <a:r>
              <a:rPr sz="750" b="0">
                <a:solidFill>
                  <a:srgbClr val="8FC9AE"/>
                </a:solidFill>
                <a:latin typeface="Helvetica Neue"/>
              </a:rPr>
              <a:t>492 back + 223 front</a:t>
            </a:r>
          </a:p>
        </p:txBody>
      </p:sp>
      <p:sp>
        <p:nvSpPr>
          <p:cNvPr id="19" name="Rounded Rectangle 18"/>
          <p:cNvSpPr/>
          <p:nvPr/>
        </p:nvSpPr>
        <p:spPr>
          <a:xfrm>
            <a:off x="9619488" y="4270248"/>
            <a:ext cx="1828800" cy="932688"/>
          </a:xfrm>
          <a:prstGeom prst="roundRect">
            <a:avLst>
              <a:gd name="adj" fmla="val 4000"/>
            </a:avLst>
          </a:prstGeom>
          <a:solidFill>
            <a:srgbClr val="22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65792" y="4389120"/>
            <a:ext cx="1554480" cy="713232"/>
          </a:xfrm>
          <a:prstGeom prst="rect">
            <a:avLst/>
          </a:prstGeom>
          <a:noFill/>
        </p:spPr>
        <p:txBody>
          <a:bodyPr wrap="square" lIns="0" rIns="0" tIns="0" bIns="0">
            <a:spAutoFit/>
          </a:bodyPr>
          <a:lstStyle/>
          <a:p>
            <a:pPr>
              <a:spcBef>
                <a:spcPts val="0"/>
              </a:spcBef>
              <a:spcAft>
                <a:spcPts val="0"/>
              </a:spcAft>
            </a:pPr>
            <a:r>
              <a:rPr sz="750" b="0">
                <a:solidFill>
                  <a:srgbClr val="9DB0A7"/>
                </a:solidFill>
                <a:latin typeface="Menlo"/>
              </a:rPr>
              <a:t>BUILT IN</a:t>
            </a:r>
          </a:p>
          <a:p>
            <a:pPr>
              <a:spcBef>
                <a:spcPts val="300"/>
              </a:spcBef>
              <a:spcAft>
                <a:spcPts val="0"/>
              </a:spcAft>
            </a:pPr>
            <a:r>
              <a:rPr sz="1700" b="1">
                <a:solidFill>
                  <a:srgbClr val="FFFFFF"/>
                </a:solidFill>
                <a:latin typeface="Helvetica Neue"/>
              </a:rPr>
              <a:t>8 days</a:t>
            </a:r>
          </a:p>
          <a:p>
            <a:pPr>
              <a:spcBef>
                <a:spcPts val="100"/>
              </a:spcBef>
              <a:spcAft>
                <a:spcPts val="0"/>
              </a:spcAft>
            </a:pPr>
            <a:r>
              <a:rPr sz="750" b="0">
                <a:solidFill>
                  <a:srgbClr val="8FC9AE"/>
                </a:solidFill>
                <a:latin typeface="Helvetica Neue"/>
              </a:rPr>
              <a:t>19 specified features</a:t>
            </a:r>
          </a:p>
        </p:txBody>
      </p:sp>
      <p:sp>
        <p:nvSpPr>
          <p:cNvPr id="21" name="TextBox 20"/>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9DB0A7"/>
                </a:solidFill>
                <a:latin typeface="Menlo"/>
              </a:rPr>
              <a:t>Every screenshot in this deck is the running application, captured 10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01</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Introduction</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What BoothPOS is, who runs it, and the one commercial decision that shapes everything else about it.</a:t>
            </a:r>
          </a:p>
        </p:txBody>
      </p:sp>
      <p:sp>
        <p:nvSpPr>
          <p:cNvPr id="5" name="Rounded Rectangle 4"/>
          <p:cNvSpPr/>
          <p:nvPr/>
        </p:nvSpPr>
        <p:spPr>
          <a:xfrm>
            <a:off x="658368" y="5074920"/>
            <a:ext cx="130302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01  </a:t>
            </a:r>
            <a:r>
              <a:rPr sz="900">
                <a:solidFill>
                  <a:srgbClr val="7E8E86"/>
                </a:solidFill>
                <a:latin typeface="Menlo"/>
              </a:rPr>
              <a:t>INTRODUCTION</a:t>
            </a:r>
            <a:r>
              <a:rPr sz="900">
                <a:solidFill>
                  <a:srgbClr val="7E8E86"/>
                </a:solidFill>
                <a:latin typeface="Menlo"/>
              </a:rPr>
              <a:t>   ·   WHAT IT IS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A till built for a booth with more than one owner.</a:t>
            </a:r>
          </a:p>
        </p:txBody>
      </p:sp>
      <p:sp>
        <p:nvSpPr>
          <p:cNvPr id="5" name="TextBox 4"/>
          <p:cNvSpPr txBox="1"/>
          <p:nvPr/>
        </p:nvSpPr>
        <p:spPr>
          <a:xfrm>
            <a:off x="658368" y="1481328"/>
            <a:ext cx="8595360" cy="457200"/>
          </a:xfrm>
          <a:prstGeom prst="rect">
            <a:avLst/>
          </a:prstGeom>
          <a:noFill/>
        </p:spPr>
        <p:txBody>
          <a:bodyPr wrap="square" lIns="0" rIns="0" tIns="0" bIns="0">
            <a:spAutoFit/>
          </a:bodyPr>
          <a:lstStyle/>
          <a:p>
            <a:pPr>
              <a:lnSpc>
                <a:spcPct val="140000"/>
              </a:lnSpc>
              <a:spcBef>
                <a:spcPts val="0"/>
              </a:spcBef>
              <a:spcAft>
                <a:spcPts val="0"/>
              </a:spcAft>
            </a:pPr>
            <a:r>
              <a:rPr sz="1100" b="0">
                <a:solidFill>
                  <a:srgbClr val="5D6F66"/>
                </a:solidFill>
                <a:latin typeface="Helvetica Neue"/>
              </a:rPr>
              <a:t>Most point-of-sale software assumes one shop, one owner, one cash drawer and a reliable internet connection. An event booth breaks all four assumptions at once.</a:t>
            </a:r>
          </a:p>
        </p:txBody>
      </p:sp>
      <p:sp>
        <p:nvSpPr>
          <p:cNvPr id="6" name="Rounded Rectangle 5"/>
          <p:cNvSpPr/>
          <p:nvPr/>
        </p:nvSpPr>
        <p:spPr>
          <a:xfrm>
            <a:off x="658368" y="2048256"/>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194560"/>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PILLAR 01</a:t>
            </a:r>
          </a:p>
          <a:p>
            <a:pPr>
              <a:lnSpc>
                <a:spcPct val="115000"/>
              </a:lnSpc>
              <a:spcBef>
                <a:spcPts val="500"/>
              </a:spcBef>
              <a:spcAft>
                <a:spcPts val="0"/>
              </a:spcAft>
            </a:pPr>
            <a:r>
              <a:rPr sz="1250" b="1">
                <a:solidFill>
                  <a:srgbClr val="14201B"/>
                </a:solidFill>
                <a:latin typeface="Helvetica Neue"/>
              </a:rPr>
              <a:t>Every item knows its seller</a:t>
            </a:r>
          </a:p>
          <a:p>
            <a:pPr>
              <a:lnSpc>
                <a:spcPct val="132000"/>
              </a:lnSpc>
              <a:spcBef>
                <a:spcPts val="500"/>
              </a:spcBef>
              <a:spcAft>
                <a:spcPts val="0"/>
              </a:spcAft>
            </a:pPr>
            <a:r>
              <a:rPr sz="950" b="0">
                <a:solidFill>
                  <a:srgbClr val="5D6F66"/>
                </a:solidFill>
                <a:latin typeface="Helvetica Neue"/>
              </a:rPr>
              <a:t>A single basket can mix three artists' goods. Each sold line permanently records which seller it belonged to, at the price and cost it had that day — so the payout maths is already done before you close.</a:t>
            </a:r>
          </a:p>
        </p:txBody>
      </p:sp>
      <p:sp>
        <p:nvSpPr>
          <p:cNvPr id="8" name="Rounded Rectangle 7"/>
          <p:cNvSpPr/>
          <p:nvPr/>
        </p:nvSpPr>
        <p:spPr>
          <a:xfrm>
            <a:off x="4332122" y="2048256"/>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5858" y="2194560"/>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PILLAR 02</a:t>
            </a:r>
          </a:p>
          <a:p>
            <a:pPr>
              <a:lnSpc>
                <a:spcPct val="115000"/>
              </a:lnSpc>
              <a:spcBef>
                <a:spcPts val="500"/>
              </a:spcBef>
              <a:spcAft>
                <a:spcPts val="0"/>
              </a:spcAft>
            </a:pPr>
            <a:r>
              <a:rPr sz="1250" b="1">
                <a:solidFill>
                  <a:srgbClr val="14201B"/>
                </a:solidFill>
                <a:latin typeface="Helvetica Neue"/>
              </a:rPr>
              <a:t>Everything hangs off the event</a:t>
            </a:r>
          </a:p>
          <a:p>
            <a:pPr>
              <a:lnSpc>
                <a:spcPct val="132000"/>
              </a:lnSpc>
              <a:spcBef>
                <a:spcPts val="500"/>
              </a:spcBef>
              <a:spcAft>
                <a:spcPts val="0"/>
              </a:spcAft>
            </a:pPr>
            <a:r>
              <a:rPr sz="950" b="0">
                <a:solidFill>
                  <a:srgbClr val="5D6F66"/>
                </a:solidFill>
                <a:latin typeface="Helvetica Neue"/>
              </a:rPr>
              <a:t>Sales, shifts, floats, profit and settlements are all scoped to a named event. "Was that convention worth going to?" is a report, not a guess.</a:t>
            </a:r>
          </a:p>
        </p:txBody>
      </p:sp>
      <p:sp>
        <p:nvSpPr>
          <p:cNvPr id="10" name="Rounded Rectangle 9"/>
          <p:cNvSpPr/>
          <p:nvPr/>
        </p:nvSpPr>
        <p:spPr>
          <a:xfrm>
            <a:off x="8005876" y="2048256"/>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9612" y="2194560"/>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PILLAR 03</a:t>
            </a:r>
          </a:p>
          <a:p>
            <a:pPr>
              <a:lnSpc>
                <a:spcPct val="115000"/>
              </a:lnSpc>
              <a:spcBef>
                <a:spcPts val="500"/>
              </a:spcBef>
              <a:spcAft>
                <a:spcPts val="0"/>
              </a:spcAft>
            </a:pPr>
            <a:r>
              <a:rPr sz="1250" b="1">
                <a:solidFill>
                  <a:srgbClr val="14201B"/>
                </a:solidFill>
                <a:latin typeface="Helvetica Neue"/>
              </a:rPr>
              <a:t>The machine in front of you is the whole system</a:t>
            </a:r>
          </a:p>
          <a:p>
            <a:pPr>
              <a:lnSpc>
                <a:spcPct val="132000"/>
              </a:lnSpc>
              <a:spcBef>
                <a:spcPts val="500"/>
              </a:spcBef>
              <a:spcAft>
                <a:spcPts val="0"/>
              </a:spcAft>
            </a:pPr>
            <a:r>
              <a:rPr sz="950" b="0">
                <a:solidFill>
                  <a:srgbClr val="5D6F66"/>
                </a:solidFill>
                <a:latin typeface="Helvetica Neue"/>
              </a:rPr>
              <a:t>Database, server and screens all run on the shop's own laptop over localhost. There is no cloud tier to fail, and no outbound call in the selling path.</a:t>
            </a:r>
          </a:p>
        </p:txBody>
      </p:sp>
      <p:sp>
        <p:nvSpPr>
          <p:cNvPr id="12" name="Rectangle 11"/>
          <p:cNvSpPr/>
          <p:nvPr/>
        </p:nvSpPr>
        <p:spPr>
          <a:xfrm>
            <a:off x="658368" y="3986784"/>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986784"/>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69080"/>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Commercially: BoothPOS is sold as a one-time licence installed locally, per store. No monthly fee, no multi-tenant service, and no vendor-side copy of your sales data.</a:t>
            </a:r>
          </a:p>
        </p:txBody>
      </p:sp>
      <p:sp>
        <p:nvSpPr>
          <p:cNvPr id="15" name="TextBox 14"/>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what it 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01  </a:t>
            </a:r>
            <a:r>
              <a:rPr sz="900">
                <a:solidFill>
                  <a:srgbClr val="7E8E86"/>
                </a:solidFill>
                <a:latin typeface="Menlo"/>
              </a:rPr>
              <a:t>INTRODUCTION</a:t>
            </a:r>
            <a:r>
              <a:rPr sz="900">
                <a:solidFill>
                  <a:srgbClr val="7E8E86"/>
                </a:solidFill>
                <a:latin typeface="Menlo"/>
              </a:rPr>
              <a:t>   ·   THE PRODUCT AT REST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dashboard.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The home screen answers the two
questions a booth owner actually asks.</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How are we doing right now, and who is owed what. Net sales, transactions and gross profit for the running event sit above a live per-seller split.</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Four shortcut tiles jump straight to a new sale, a new pre-order, a stock adjustment or a new product.</a:t>
            </a:r>
          </a:p>
          <a:p>
            <a:pPr>
              <a:lnSpc>
                <a:spcPct val="130000"/>
              </a:lnSpc>
              <a:spcAft>
                <a:spcPts val="700"/>
              </a:spcAft>
            </a:pPr>
            <a:r>
              <a:rPr sz="850" b="1">
                <a:solidFill>
                  <a:srgbClr val="8B2F9D"/>
                </a:solidFill>
                <a:latin typeface="Menlo"/>
              </a:rPr>
              <a:t>02   </a:t>
            </a:r>
            <a:r>
              <a:rPr sz="1050">
                <a:solidFill>
                  <a:srgbClr val="5D6F66"/>
                </a:solidFill>
                <a:latin typeface="Helvetica Neue"/>
              </a:rPr>
              <a:t>Results per seller updates as you trade — there is no report to run.</a:t>
            </a:r>
          </a:p>
          <a:p>
            <a:pPr>
              <a:lnSpc>
                <a:spcPct val="130000"/>
              </a:lnSpc>
              <a:spcAft>
                <a:spcPts val="700"/>
              </a:spcAft>
            </a:pPr>
            <a:r>
              <a:rPr sz="850" b="1">
                <a:solidFill>
                  <a:srgbClr val="8B2F9D"/>
                </a:solidFill>
                <a:latin typeface="Menlo"/>
              </a:rPr>
              <a:t>03   </a:t>
            </a:r>
            <a:r>
              <a:rPr sz="1050">
                <a:solidFill>
                  <a:srgbClr val="5D6F66"/>
                </a:solidFill>
                <a:latin typeface="Helvetica Neue"/>
              </a:rPr>
              <a:t>Low-stock and pending pre-order counters flag what needs attention early.</a:t>
            </a:r>
          </a:p>
        </p:txBody>
      </p:sp>
      <p:sp>
        <p:nvSpPr>
          <p:cNvPr id="9" name="Rectangle 8"/>
          <p:cNvSpPr/>
          <p:nvPr/>
        </p:nvSpPr>
        <p:spPr>
          <a:xfrm>
            <a:off x="658368" y="5394960"/>
            <a:ext cx="47484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DEMO — the amber badge means this installation is in practice mode. Everything shown is demo data that never touches the real books.</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product at rest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01  </a:t>
            </a:r>
            <a:r>
              <a:rPr sz="900">
                <a:solidFill>
                  <a:srgbClr val="7E8E86"/>
                </a:solidFill>
                <a:latin typeface="Menlo"/>
              </a:rPr>
              <a:t>INTRODUCTION</a:t>
            </a:r>
            <a:r>
              <a:rPr sz="900">
                <a:solidFill>
                  <a:srgbClr val="7E8E86"/>
                </a:solidFill>
                <a:latin typeface="Menlo"/>
              </a:rPr>
              <a:t>   ·   WHO IT IS FOR</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Three shapes of booth, one product.</a:t>
            </a:r>
          </a:p>
        </p:txBody>
      </p:sp>
      <p:sp>
        <p:nvSpPr>
          <p:cNvPr id="5" name="Rounded Rectangle 4"/>
          <p:cNvSpPr/>
          <p:nvPr/>
        </p:nvSpPr>
        <p:spPr>
          <a:xfrm>
            <a:off x="658368"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AUDIENCE A</a:t>
            </a:r>
          </a:p>
          <a:p>
            <a:pPr>
              <a:lnSpc>
                <a:spcPct val="115000"/>
              </a:lnSpc>
              <a:spcBef>
                <a:spcPts val="500"/>
              </a:spcBef>
              <a:spcAft>
                <a:spcPts val="0"/>
              </a:spcAft>
            </a:pPr>
            <a:r>
              <a:rPr sz="1250" b="1">
                <a:solidFill>
                  <a:srgbClr val="14201B"/>
                </a:solidFill>
                <a:latin typeface="Helvetica Neue"/>
              </a:rPr>
              <a:t>The consignment host</a:t>
            </a:r>
          </a:p>
          <a:p>
            <a:pPr>
              <a:lnSpc>
                <a:spcPct val="132000"/>
              </a:lnSpc>
              <a:spcBef>
                <a:spcPts val="500"/>
              </a:spcBef>
              <a:spcAft>
                <a:spcPts val="0"/>
              </a:spcAft>
            </a:pPr>
            <a:r>
              <a:rPr sz="950" b="0">
                <a:solidFill>
                  <a:srgbClr val="5D6F66"/>
                </a:solidFill>
                <a:latin typeface="Helvetica Neue"/>
              </a:rPr>
              <a:t>You rent the booth and carry other artists' merchandise. You need per-seller accounting you can defend, and you need it the same evening — not next week.   → Master licence</a:t>
            </a:r>
          </a:p>
        </p:txBody>
      </p:sp>
      <p:sp>
        <p:nvSpPr>
          <p:cNvPr id="7" name="Rounded Rectangle 6"/>
          <p:cNvSpPr/>
          <p:nvPr/>
        </p:nvSpPr>
        <p:spPr>
          <a:xfrm>
            <a:off x="4332122"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5858"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AUDIENCE B</a:t>
            </a:r>
          </a:p>
          <a:p>
            <a:pPr>
              <a:lnSpc>
                <a:spcPct val="115000"/>
              </a:lnSpc>
              <a:spcBef>
                <a:spcPts val="500"/>
              </a:spcBef>
              <a:spcAft>
                <a:spcPts val="0"/>
              </a:spcAft>
            </a:pPr>
            <a:r>
              <a:rPr sz="1250" b="1">
                <a:solidFill>
                  <a:srgbClr val="14201B"/>
                </a:solidFill>
                <a:latin typeface="Helvetica Neue"/>
              </a:rPr>
              <a:t>The solo maker</a:t>
            </a:r>
          </a:p>
          <a:p>
            <a:pPr>
              <a:lnSpc>
                <a:spcPct val="132000"/>
              </a:lnSpc>
              <a:spcBef>
                <a:spcPts val="500"/>
              </a:spcBef>
              <a:spcAft>
                <a:spcPts val="0"/>
              </a:spcAft>
            </a:pPr>
            <a:r>
              <a:rPr sz="950" b="0">
                <a:solidFill>
                  <a:srgbClr val="5D6F66"/>
                </a:solidFill>
                <a:latin typeface="Helvetica Neue"/>
              </a:rPr>
              <a:t>Everything in the booth is yours. You want a fast till, honest stock and a profit figure per event, without paying for multi-artist features you will never open.   → Pro licence</a:t>
            </a:r>
          </a:p>
        </p:txBody>
      </p:sp>
      <p:sp>
        <p:nvSpPr>
          <p:cNvPr id="9" name="Rounded Rectangle 8"/>
          <p:cNvSpPr/>
          <p:nvPr/>
        </p:nvSpPr>
        <p:spPr>
          <a:xfrm>
            <a:off x="8005876"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9612"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AUDIENCE C</a:t>
            </a:r>
          </a:p>
          <a:p>
            <a:pPr>
              <a:lnSpc>
                <a:spcPct val="115000"/>
              </a:lnSpc>
              <a:spcBef>
                <a:spcPts val="500"/>
              </a:spcBef>
              <a:spcAft>
                <a:spcPts val="0"/>
              </a:spcAft>
            </a:pPr>
            <a:r>
              <a:rPr sz="1250" b="1">
                <a:solidFill>
                  <a:srgbClr val="14201B"/>
                </a:solidFill>
                <a:latin typeface="Helvetica Neue"/>
              </a:rPr>
              <a:t>The circuit regular</a:t>
            </a:r>
          </a:p>
          <a:p>
            <a:pPr>
              <a:lnSpc>
                <a:spcPct val="132000"/>
              </a:lnSpc>
              <a:spcBef>
                <a:spcPts val="500"/>
              </a:spcBef>
              <a:spcAft>
                <a:spcPts val="0"/>
              </a:spcAft>
            </a:pPr>
            <a:r>
              <a:rPr sz="950" b="0">
                <a:solidFill>
                  <a:srgbClr val="5D6F66"/>
                </a:solidFill>
                <a:latin typeface="Helvetica Neue"/>
              </a:rPr>
              <a:t>A dozen events a year, pre-orders taken at one and handed over at the next, and last year's numbers when you decide which events to book again.   → Master licence</a:t>
            </a:r>
          </a:p>
        </p:txBody>
      </p:sp>
      <p:sp>
        <p:nvSpPr>
          <p:cNvPr id="11" name="Rectangle 10"/>
          <p:cNvSpPr/>
          <p:nvPr/>
        </p:nvSpPr>
        <p:spPr>
          <a:xfrm>
            <a:off x="658368" y="3511296"/>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511296"/>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593592"/>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On the day: an owner sets it up, a cashier who may be a friend doing you a favour runs the till, an inventory helper counts stock but never sees margins. Access is granted screen by screen.</a:t>
            </a:r>
          </a:p>
        </p:txBody>
      </p:sp>
      <p:sp>
        <p:nvSpPr>
          <p:cNvPr id="14" name="TextBox 13"/>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who it is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02</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The problem</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Every pain here is taken from the product requirements document's own problem statement — the situations that made this software worth building rather than buying.</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02  </a:t>
            </a:r>
            <a:r>
              <a:rPr sz="900">
                <a:solidFill>
                  <a:srgbClr val="7E8E86"/>
                </a:solidFill>
                <a:latin typeface="Menlo"/>
              </a:rPr>
              <a:t>PROBLEM</a:t>
            </a:r>
            <a:r>
              <a:rPr sz="900">
                <a:solidFill>
                  <a:srgbClr val="7E8E86"/>
                </a:solidFill>
                <a:latin typeface="Menlo"/>
              </a:rPr>
              <a:t>   ·   BOOTH-DAY REALITY</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Six ways a busy weekend goes wrong.</a:t>
            </a:r>
          </a:p>
        </p:txBody>
      </p:sp>
      <p:sp>
        <p:nvSpPr>
          <p:cNvPr id="5" name="Rectangle 4"/>
          <p:cNvSpPr/>
          <p:nvPr/>
        </p:nvSpPr>
        <p:spPr>
          <a:xfrm>
            <a:off x="658368" y="1591056"/>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82496"/>
            <a:ext cx="374904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THE PAIN</a:t>
            </a:r>
          </a:p>
        </p:txBody>
      </p:sp>
      <p:sp>
        <p:nvSpPr>
          <p:cNvPr id="7" name="TextBox 6"/>
          <p:cNvSpPr txBox="1"/>
          <p:nvPr/>
        </p:nvSpPr>
        <p:spPr>
          <a:xfrm>
            <a:off x="4681728" y="1682496"/>
            <a:ext cx="6757416"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WHAT BOOTHPOS DOES</a:t>
            </a:r>
          </a:p>
        </p:txBody>
      </p:sp>
      <p:sp>
        <p:nvSpPr>
          <p:cNvPr id="8" name="Rectangle 7"/>
          <p:cNvSpPr/>
          <p:nvPr/>
        </p:nvSpPr>
        <p:spPr>
          <a:xfrm>
            <a:off x="658368" y="1975104"/>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075688"/>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The paper sales book at a packed booth</a:t>
            </a:r>
          </a:p>
        </p:txBody>
      </p:sp>
      <p:sp>
        <p:nvSpPr>
          <p:cNvPr id="10" name="TextBox 9"/>
          <p:cNvSpPr txBox="1"/>
          <p:nvPr/>
        </p:nvSpPr>
        <p:spPr>
          <a:xfrm>
            <a:off x="4681728" y="2075688"/>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At the busiest hour you are scribbling every sale into a notebook. The till writes the sale, its lines, its payments and its stock changes in one all-or-nothing step.</a:t>
            </a:r>
          </a:p>
        </p:txBody>
      </p:sp>
      <p:sp>
        <p:nvSpPr>
          <p:cNvPr id="11" name="Rectangle 10"/>
          <p:cNvSpPr/>
          <p:nvPr/>
        </p:nvSpPr>
        <p:spPr>
          <a:xfrm>
            <a:off x="658368" y="2736291"/>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836875"/>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Splitting the day's takings between artists</a:t>
            </a:r>
          </a:p>
        </p:txBody>
      </p:sp>
      <p:sp>
        <p:nvSpPr>
          <p:cNvPr id="13" name="TextBox 12"/>
          <p:cNvSpPr txBox="1"/>
          <p:nvPr/>
        </p:nvSpPr>
        <p:spPr>
          <a:xfrm>
            <a:off x="4681728" y="2836875"/>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Several artists, one cash box, days of receipt-sorting. Every sold line remembers its seller, so the recap recalculates from the actual lines whenever you open it.</a:t>
            </a:r>
          </a:p>
        </p:txBody>
      </p:sp>
      <p:sp>
        <p:nvSpPr>
          <p:cNvPr id="14" name="Rectangle 13"/>
          <p:cNvSpPr/>
          <p:nvPr/>
        </p:nvSpPr>
        <p:spPr>
          <a:xfrm>
            <a:off x="658368" y="348992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590511"/>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When an artist questions the numbers</a:t>
            </a:r>
          </a:p>
        </p:txBody>
      </p:sp>
      <p:sp>
        <p:nvSpPr>
          <p:cNvPr id="16" name="TextBox 15"/>
          <p:cNvSpPr txBox="1"/>
          <p:nvPr/>
        </p:nvSpPr>
        <p:spPr>
          <a:xfrm>
            <a:off x="4681728" y="3590511"/>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All you have to defend yourself with is your own handwriting. Click any seller's row for the individual transactions behind the total.</a:t>
            </a:r>
          </a:p>
        </p:txBody>
      </p:sp>
      <p:sp>
        <p:nvSpPr>
          <p:cNvPr id="17" name="Rectangle 16"/>
          <p:cNvSpPr/>
          <p:nvPr/>
        </p:nvSpPr>
        <p:spPr>
          <a:xfrm>
            <a:off x="658368" y="4170569"/>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271153"/>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Venue wifi that does not work</a:t>
            </a:r>
          </a:p>
        </p:txBody>
      </p:sp>
      <p:sp>
        <p:nvSpPr>
          <p:cNvPr id="19" name="TextBox 18"/>
          <p:cNvSpPr txBox="1"/>
          <p:nvPr/>
        </p:nvSpPr>
        <p:spPr>
          <a:xfrm>
            <a:off x="4681728" y="4271153"/>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The signal drops when the queue is longest. Nothing in the selling path makes an outbound call — trade all day with the wifi off.</a:t>
            </a:r>
          </a:p>
        </p:txBody>
      </p:sp>
      <p:sp>
        <p:nvSpPr>
          <p:cNvPr id="20" name="Rectangle 19"/>
          <p:cNvSpPr/>
          <p:nvPr/>
        </p:nvSpPr>
        <p:spPr>
          <a:xfrm>
            <a:off x="658368" y="4838625"/>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939209"/>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Stock nobody trusts, and the limited item you sold twice</a:t>
            </a:r>
          </a:p>
        </p:txBody>
      </p:sp>
      <p:sp>
        <p:nvSpPr>
          <p:cNvPr id="22" name="TextBox 21"/>
          <p:cNvSpPr txBox="1"/>
          <p:nvPr/>
        </p:nvSpPr>
        <p:spPr>
          <a:xfrm>
            <a:off x="4681728" y="4939209"/>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Stock is per variant, and every change goes through one write path that locks the row, so two simultaneous sales cannot both take the last unit.</a:t>
            </a:r>
          </a:p>
        </p:txBody>
      </p:sp>
      <p:sp>
        <p:nvSpPr>
          <p:cNvPr id="23" name="Rectangle 22"/>
          <p:cNvSpPr/>
          <p:nvPr/>
        </p:nvSpPr>
        <p:spPr>
          <a:xfrm>
            <a:off x="658368" y="554443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645021"/>
            <a:ext cx="37490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One cash box, several pairs of hands</a:t>
            </a:r>
          </a:p>
        </p:txBody>
      </p:sp>
      <p:sp>
        <p:nvSpPr>
          <p:cNvPr id="25" name="TextBox 24"/>
          <p:cNvSpPr txBox="1"/>
          <p:nvPr/>
        </p:nvSpPr>
        <p:spPr>
          <a:xfrm>
            <a:off x="4681728" y="5645021"/>
            <a:ext cx="67574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Nobody can explain the shortfall. Shifts open with a counted float and close with a counted drawer; a difference demands a written note.</a:t>
            </a:r>
          </a:p>
        </p:txBody>
      </p:sp>
      <p:sp>
        <p:nvSpPr>
          <p:cNvPr id="26" name="Rectangle 25"/>
          <p:cNvSpPr/>
          <p:nvPr/>
        </p:nvSpPr>
        <p:spPr>
          <a:xfrm>
            <a:off x="658368" y="5742432"/>
            <a:ext cx="10874959" cy="65836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5742432"/>
            <a:ext cx="34925" cy="658368"/>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824728"/>
            <a:ext cx="10600639" cy="512064"/>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Source: docs/PRD-POS-Event-Multivendor.md §2 (problems P1–P5) and §12 (named risks).</a:t>
            </a:r>
          </a:p>
        </p:txBody>
      </p:sp>
      <p:sp>
        <p:nvSpPr>
          <p:cNvPr id="29" name="TextBox 2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booth-day reality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02  </a:t>
            </a:r>
            <a:r>
              <a:rPr sz="900">
                <a:solidFill>
                  <a:srgbClr val="7E8E86"/>
                </a:solidFill>
                <a:latin typeface="Menlo"/>
              </a:rPr>
              <a:t>PROBLEM</a:t>
            </a:r>
            <a:r>
              <a:rPr sz="900">
                <a:solidFill>
                  <a:srgbClr val="7E8E86"/>
                </a:solidFill>
                <a:latin typeface="Menlo"/>
              </a:rPr>
              <a:t>   ·   WHY A GENERIC POS DOES NOT FIT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The four assumptions ordinary till software makes.</a:t>
            </a:r>
          </a:p>
        </p:txBody>
      </p:sp>
      <p:sp>
        <p:nvSpPr>
          <p:cNvPr id="5" name="Rounded Rectangle 4"/>
          <p:cNvSpPr/>
          <p:nvPr/>
        </p:nvSpPr>
        <p:spPr>
          <a:xfrm>
            <a:off x="658368" y="1572768"/>
            <a:ext cx="2609011"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2261539"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ASSUMPTION 01</a:t>
            </a:r>
          </a:p>
          <a:p>
            <a:pPr>
              <a:lnSpc>
                <a:spcPct val="115000"/>
              </a:lnSpc>
              <a:spcBef>
                <a:spcPts val="500"/>
              </a:spcBef>
              <a:spcAft>
                <a:spcPts val="0"/>
              </a:spcAft>
            </a:pPr>
            <a:r>
              <a:rPr sz="1250" b="1">
                <a:solidFill>
                  <a:srgbClr val="14201B"/>
                </a:solidFill>
                <a:latin typeface="Helvetica Neue"/>
              </a:rPr>
              <a:t>"One shop owns all the stock"</a:t>
            </a:r>
          </a:p>
          <a:p>
            <a:pPr>
              <a:lnSpc>
                <a:spcPct val="132000"/>
              </a:lnSpc>
              <a:spcBef>
                <a:spcPts val="500"/>
              </a:spcBef>
              <a:spcAft>
                <a:spcPts val="0"/>
              </a:spcAft>
            </a:pPr>
            <a:r>
              <a:rPr sz="950" b="0">
                <a:solidFill>
                  <a:srgbClr val="5D6F66"/>
                </a:solidFill>
                <a:latin typeface="Helvetica Neue"/>
              </a:rPr>
              <a:t>So there is nowhere to record that the keychain belongs to one artist and the standee to another — and no way to split one basket between them.</a:t>
            </a:r>
          </a:p>
        </p:txBody>
      </p:sp>
      <p:sp>
        <p:nvSpPr>
          <p:cNvPr id="7" name="Rounded Rectangle 6"/>
          <p:cNvSpPr/>
          <p:nvPr/>
        </p:nvSpPr>
        <p:spPr>
          <a:xfrm>
            <a:off x="3413683" y="1572768"/>
            <a:ext cx="2609011"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7419" y="1719072"/>
            <a:ext cx="2261539"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ASSUMPTION 02</a:t>
            </a:r>
          </a:p>
          <a:p>
            <a:pPr>
              <a:lnSpc>
                <a:spcPct val="115000"/>
              </a:lnSpc>
              <a:spcBef>
                <a:spcPts val="500"/>
              </a:spcBef>
              <a:spcAft>
                <a:spcPts val="0"/>
              </a:spcAft>
            </a:pPr>
            <a:r>
              <a:rPr sz="1250" b="1">
                <a:solidFill>
                  <a:srgbClr val="14201B"/>
                </a:solidFill>
                <a:latin typeface="Helvetica Neue"/>
              </a:rPr>
              <a:t>"Trading is continuous"</a:t>
            </a:r>
          </a:p>
          <a:p>
            <a:pPr>
              <a:lnSpc>
                <a:spcPct val="132000"/>
              </a:lnSpc>
              <a:spcBef>
                <a:spcPts val="500"/>
              </a:spcBef>
              <a:spcAft>
                <a:spcPts val="0"/>
              </a:spcAft>
            </a:pPr>
            <a:r>
              <a:rPr sz="950" b="0">
                <a:solidFill>
                  <a:srgbClr val="5D6F66"/>
                </a:solidFill>
                <a:latin typeface="Helvetica Neue"/>
              </a:rPr>
              <a:t>So there is no notion of an event: no per-event float, no per-event profit after the booth fee, no way to compare one convention against another.</a:t>
            </a:r>
          </a:p>
        </p:txBody>
      </p:sp>
      <p:sp>
        <p:nvSpPr>
          <p:cNvPr id="9" name="Rounded Rectangle 8"/>
          <p:cNvSpPr/>
          <p:nvPr/>
        </p:nvSpPr>
        <p:spPr>
          <a:xfrm>
            <a:off x="6168999" y="1572768"/>
            <a:ext cx="2609011"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2735" y="1719072"/>
            <a:ext cx="2261539"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ASSUMPTION 03</a:t>
            </a:r>
          </a:p>
          <a:p>
            <a:pPr>
              <a:lnSpc>
                <a:spcPct val="115000"/>
              </a:lnSpc>
              <a:spcBef>
                <a:spcPts val="500"/>
              </a:spcBef>
              <a:spcAft>
                <a:spcPts val="0"/>
              </a:spcAft>
            </a:pPr>
            <a:r>
              <a:rPr sz="1250" b="1">
                <a:solidFill>
                  <a:srgbClr val="14201B"/>
                </a:solidFill>
                <a:latin typeface="Helvetica Neue"/>
              </a:rPr>
              <a:t>"The internet is there"</a:t>
            </a:r>
          </a:p>
          <a:p>
            <a:pPr>
              <a:lnSpc>
                <a:spcPct val="132000"/>
              </a:lnSpc>
              <a:spcBef>
                <a:spcPts val="500"/>
              </a:spcBef>
              <a:spcAft>
                <a:spcPts val="0"/>
              </a:spcAft>
            </a:pPr>
            <a:r>
              <a:rPr sz="950" b="0">
                <a:solidFill>
                  <a:srgbClr val="5D6F66"/>
                </a:solidFill>
                <a:latin typeface="Helvetica Neue"/>
              </a:rPr>
              <a:t>So the moment the hall's wifi drops, the queue stops. Cloud tills degrade exactly when a booth is busiest.</a:t>
            </a:r>
          </a:p>
        </p:txBody>
      </p:sp>
      <p:sp>
        <p:nvSpPr>
          <p:cNvPr id="11" name="Rounded Rectangle 10"/>
          <p:cNvSpPr/>
          <p:nvPr/>
        </p:nvSpPr>
        <p:spPr>
          <a:xfrm>
            <a:off x="8924315" y="1572768"/>
            <a:ext cx="2609011"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051" y="1719072"/>
            <a:ext cx="2261539"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ASSUMPTION 04</a:t>
            </a:r>
          </a:p>
          <a:p>
            <a:pPr>
              <a:lnSpc>
                <a:spcPct val="115000"/>
              </a:lnSpc>
              <a:spcBef>
                <a:spcPts val="500"/>
              </a:spcBef>
              <a:spcAft>
                <a:spcPts val="0"/>
              </a:spcAft>
            </a:pPr>
            <a:r>
              <a:rPr sz="1250" b="1">
                <a:solidFill>
                  <a:srgbClr val="14201B"/>
                </a:solidFill>
                <a:latin typeface="Helvetica Neue"/>
              </a:rPr>
              <a:t>"You pay monthly, forever"</a:t>
            </a:r>
          </a:p>
          <a:p>
            <a:pPr>
              <a:lnSpc>
                <a:spcPct val="132000"/>
              </a:lnSpc>
              <a:spcBef>
                <a:spcPts val="500"/>
              </a:spcBef>
              <a:spcAft>
                <a:spcPts val="0"/>
              </a:spcAft>
            </a:pPr>
            <a:r>
              <a:rPr sz="950" b="0">
                <a:solidFill>
                  <a:srgbClr val="5D6F66"/>
                </a:solidFill>
                <a:latin typeface="Helvetica Neue"/>
              </a:rPr>
              <a:t>A subscription priced for a shop open 300 days a year is poor value for a booth trading on six weekends.</a:t>
            </a:r>
          </a:p>
        </p:txBody>
      </p:sp>
      <p:sp>
        <p:nvSpPr>
          <p:cNvPr id="13" name="Rectangle 12"/>
          <p:cNvSpPr/>
          <p:nvPr/>
        </p:nvSpPr>
        <p:spPr>
          <a:xfrm>
            <a:off x="658368" y="3511296"/>
            <a:ext cx="10874959" cy="548640"/>
          </a:xfrm>
          <a:prstGeom prst="rect">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511296"/>
            <a:ext cx="34925" cy="548640"/>
          </a:xfrm>
          <a:prstGeom prst="rect">
            <a:avLst/>
          </a:prstGeom>
          <a:solidFill>
            <a:srgbClr val="A2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593592"/>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A2534B"/>
                </a:solidFill>
                <a:latin typeface="Helvetica Neue"/>
              </a:rPr>
              <a:t>The cost of getting this wrong is not abstract: the requirements document names artist payout disputes as a top project risk, and permanent data loss from an un-backed-up device as another.</a:t>
            </a:r>
          </a:p>
        </p:txBody>
      </p:sp>
      <p:sp>
        <p:nvSpPr>
          <p:cNvPr id="16" name="TextBox 15"/>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why a generic pos does not fit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03</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Goals</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What the product committed to doing — and, just as deliberately, what it committed to leaving out.</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03  </a:t>
            </a:r>
            <a:r>
              <a:rPr sz="900">
                <a:solidFill>
                  <a:srgbClr val="7E8E86"/>
                </a:solidFill>
                <a:latin typeface="Menlo"/>
              </a:rPr>
              <a:t>GOALS</a:t>
            </a:r>
            <a:r>
              <a:rPr sz="900">
                <a:solidFill>
                  <a:srgbClr val="7E8E86"/>
                </a:solidFill>
                <a:latin typeface="Menlo"/>
              </a:rPr>
              <a:t>   ·   THE PROMISES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Seven commitments the build was measured against.</a:t>
            </a:r>
          </a:p>
        </p:txBody>
      </p:sp>
      <p:sp>
        <p:nvSpPr>
          <p:cNvPr id="5" name="Rounded Rectangle 4"/>
          <p:cNvSpPr/>
          <p:nvPr/>
        </p:nvSpPr>
        <p:spPr>
          <a:xfrm>
            <a:off x="658368"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01</a:t>
            </a:r>
          </a:p>
          <a:p>
            <a:pPr>
              <a:lnSpc>
                <a:spcPct val="115000"/>
              </a:lnSpc>
              <a:spcBef>
                <a:spcPts val="500"/>
              </a:spcBef>
              <a:spcAft>
                <a:spcPts val="0"/>
              </a:spcAft>
            </a:pPr>
            <a:r>
              <a:rPr sz="1250" b="1">
                <a:solidFill>
                  <a:srgbClr val="14201B"/>
                </a:solidFill>
                <a:latin typeface="Helvetica Neue"/>
              </a:rPr>
              <a:t>Sell without the internet</a:t>
            </a:r>
          </a:p>
          <a:p>
            <a:pPr>
              <a:lnSpc>
                <a:spcPct val="132000"/>
              </a:lnSpc>
              <a:spcBef>
                <a:spcPts val="500"/>
              </a:spcBef>
              <a:spcAft>
                <a:spcPts val="0"/>
              </a:spcAft>
            </a:pPr>
            <a:r>
              <a:rPr sz="950" b="0">
                <a:solidFill>
                  <a:srgbClr val="5D6F66"/>
                </a:solidFill>
                <a:latin typeface="Helvetica Neue"/>
              </a:rPr>
              <a:t>The complete stack runs on the shop's machine. Reports, receipts and stock behave identically offline and online.</a:t>
            </a:r>
          </a:p>
        </p:txBody>
      </p:sp>
      <p:sp>
        <p:nvSpPr>
          <p:cNvPr id="7" name="Rounded Rectangle 6"/>
          <p:cNvSpPr/>
          <p:nvPr/>
        </p:nvSpPr>
        <p:spPr>
          <a:xfrm>
            <a:off x="4332122"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5858"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02</a:t>
            </a:r>
          </a:p>
          <a:p>
            <a:pPr>
              <a:lnSpc>
                <a:spcPct val="115000"/>
              </a:lnSpc>
              <a:spcBef>
                <a:spcPts val="500"/>
              </a:spcBef>
              <a:spcAft>
                <a:spcPts val="0"/>
              </a:spcAft>
            </a:pPr>
            <a:r>
              <a:rPr sz="1250" b="1">
                <a:solidFill>
                  <a:srgbClr val="14201B"/>
                </a:solidFill>
                <a:latin typeface="Helvetica Neue"/>
              </a:rPr>
              <a:t>Settle the same evening</a:t>
            </a:r>
          </a:p>
          <a:p>
            <a:pPr>
              <a:lnSpc>
                <a:spcPct val="132000"/>
              </a:lnSpc>
              <a:spcBef>
                <a:spcPts val="500"/>
              </a:spcBef>
              <a:spcAft>
                <a:spcPts val="0"/>
              </a:spcAft>
            </a:pPr>
            <a:r>
              <a:rPr sz="950" b="0">
                <a:solidFill>
                  <a:srgbClr val="5D6F66"/>
                </a:solidFill>
                <a:latin typeface="Helvetica Neue"/>
              </a:rPr>
              <a:t>Per-seller payouts recalculated from live sale lines, with a transaction drill-down and an Excel export per artist.</a:t>
            </a:r>
          </a:p>
        </p:txBody>
      </p:sp>
      <p:sp>
        <p:nvSpPr>
          <p:cNvPr id="9" name="Rounded Rectangle 8"/>
          <p:cNvSpPr/>
          <p:nvPr/>
        </p:nvSpPr>
        <p:spPr>
          <a:xfrm>
            <a:off x="8005876"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9612"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03</a:t>
            </a:r>
          </a:p>
          <a:p>
            <a:pPr>
              <a:lnSpc>
                <a:spcPct val="115000"/>
              </a:lnSpc>
              <a:spcBef>
                <a:spcPts val="500"/>
              </a:spcBef>
              <a:spcAft>
                <a:spcPts val="0"/>
              </a:spcAft>
            </a:pPr>
            <a:r>
              <a:rPr sz="1250" b="1">
                <a:solidFill>
                  <a:srgbClr val="14201B"/>
                </a:solidFill>
                <a:latin typeface="Helvetica Neue"/>
              </a:rPr>
              <a:t>Never let the till decide what it earned</a:t>
            </a:r>
          </a:p>
          <a:p>
            <a:pPr>
              <a:lnSpc>
                <a:spcPct val="132000"/>
              </a:lnSpc>
              <a:spcBef>
                <a:spcPts val="500"/>
              </a:spcBef>
              <a:spcAft>
                <a:spcPts val="0"/>
              </a:spcAft>
            </a:pPr>
            <a:r>
              <a:rPr sz="950" b="0">
                <a:solidFill>
                  <a:srgbClr val="5D6F66"/>
                </a:solidFill>
                <a:latin typeface="Helvetica Neue"/>
              </a:rPr>
              <a:t>Prices, totals, discounts, cost of goods and stock deltas are computed server-side. A client-supplied amount is never trusted.</a:t>
            </a:r>
          </a:p>
        </p:txBody>
      </p:sp>
      <p:sp>
        <p:nvSpPr>
          <p:cNvPr id="11" name="Rounded Rectangle 10"/>
          <p:cNvSpPr/>
          <p:nvPr/>
        </p:nvSpPr>
        <p:spPr>
          <a:xfrm>
            <a:off x="658368"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04</a:t>
            </a:r>
          </a:p>
          <a:p>
            <a:pPr>
              <a:lnSpc>
                <a:spcPct val="115000"/>
              </a:lnSpc>
              <a:spcBef>
                <a:spcPts val="500"/>
              </a:spcBef>
              <a:spcAft>
                <a:spcPts val="0"/>
              </a:spcAft>
            </a:pPr>
            <a:r>
              <a:rPr sz="1250" b="1">
                <a:solidFill>
                  <a:srgbClr val="14201B"/>
                </a:solidFill>
                <a:latin typeface="Helvetica Neue"/>
              </a:rPr>
              <a:t>Stock you can sell limited runs on</a:t>
            </a:r>
          </a:p>
          <a:p>
            <a:pPr>
              <a:lnSpc>
                <a:spcPct val="132000"/>
              </a:lnSpc>
              <a:spcBef>
                <a:spcPts val="500"/>
              </a:spcBef>
              <a:spcAft>
                <a:spcPts val="0"/>
              </a:spcAft>
            </a:pPr>
            <a:r>
              <a:rPr sz="950" b="0">
                <a:solidFill>
                  <a:srgbClr val="5D6F66"/>
                </a:solidFill>
                <a:latin typeface="Helvetica Neue"/>
              </a:rPr>
              <a:t>Per-variant stock, an append-only movement history, and a row lock that stops two sales overselling the last unit.</a:t>
            </a:r>
          </a:p>
        </p:txBody>
      </p:sp>
      <p:sp>
        <p:nvSpPr>
          <p:cNvPr id="13" name="Rounded Rectangle 12"/>
          <p:cNvSpPr/>
          <p:nvPr/>
        </p:nvSpPr>
        <p:spPr>
          <a:xfrm>
            <a:off x="4332122"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5858"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05</a:t>
            </a:r>
          </a:p>
          <a:p>
            <a:pPr>
              <a:lnSpc>
                <a:spcPct val="115000"/>
              </a:lnSpc>
              <a:spcBef>
                <a:spcPts val="500"/>
              </a:spcBef>
              <a:spcAft>
                <a:spcPts val="0"/>
              </a:spcAft>
            </a:pPr>
            <a:r>
              <a:rPr sz="1250" b="1">
                <a:solidFill>
                  <a:srgbClr val="14201B"/>
                </a:solidFill>
                <a:latin typeface="Helvetica Neue"/>
              </a:rPr>
              <a:t>Answer "was this event worth it?"</a:t>
            </a:r>
          </a:p>
          <a:p>
            <a:pPr>
              <a:lnSpc>
                <a:spcPct val="132000"/>
              </a:lnSpc>
              <a:spcBef>
                <a:spcPts val="500"/>
              </a:spcBef>
              <a:spcAft>
                <a:spcPts val="0"/>
              </a:spcAft>
            </a:pPr>
            <a:r>
              <a:rPr sz="950" b="0">
                <a:solidFill>
                  <a:srgbClr val="5D6F66"/>
                </a:solidFill>
                <a:latin typeface="Helvetica Neue"/>
              </a:rPr>
              <a:t>Cost and sell price frozen onto each sold line, and the event's own cost subtracted to give a net figure.</a:t>
            </a:r>
          </a:p>
        </p:txBody>
      </p:sp>
      <p:sp>
        <p:nvSpPr>
          <p:cNvPr id="15" name="Rounded Rectangle 14"/>
          <p:cNvSpPr/>
          <p:nvPr/>
        </p:nvSpPr>
        <p:spPr>
          <a:xfrm>
            <a:off x="8005876"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9612"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GOAL 06</a:t>
            </a:r>
          </a:p>
          <a:p>
            <a:pPr>
              <a:lnSpc>
                <a:spcPct val="115000"/>
              </a:lnSpc>
              <a:spcBef>
                <a:spcPts val="500"/>
              </a:spcBef>
              <a:spcAft>
                <a:spcPts val="0"/>
              </a:spcAft>
            </a:pPr>
            <a:r>
              <a:rPr sz="1250" b="1">
                <a:solidFill>
                  <a:srgbClr val="14201B"/>
                </a:solidFill>
                <a:latin typeface="Helvetica Neue"/>
              </a:rPr>
              <a:t>Safe in the hands of a volunteer</a:t>
            </a:r>
          </a:p>
          <a:p>
            <a:pPr>
              <a:lnSpc>
                <a:spcPct val="132000"/>
              </a:lnSpc>
              <a:spcBef>
                <a:spcPts val="500"/>
              </a:spcBef>
              <a:spcAft>
                <a:spcPts val="0"/>
              </a:spcAft>
            </a:pPr>
            <a:r>
              <a:rPr sz="950" b="0">
                <a:solidFill>
                  <a:srgbClr val="5D6F66"/>
                </a:solidFill>
                <a:latin typeface="Helvetica Neue"/>
              </a:rPr>
              <a:t>Access granted screen by screen, three server-side authorization layers, and a practice mode for rehearsal.</a:t>
            </a:r>
          </a:p>
        </p:txBody>
      </p:sp>
      <p:sp>
        <p:nvSpPr>
          <p:cNvPr id="17" name="Rectangle 16"/>
          <p:cNvSpPr/>
          <p:nvPr/>
        </p:nvSpPr>
        <p:spPr>
          <a:xfrm>
            <a:off x="658368" y="5413248"/>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413248"/>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495544"/>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Goal 07 — Cost one payment, not a subscription. A one-time licence in two tiers running from the same build: Pro for a single-seller booth, Master for unlimited sellers. Switching is one setting; nothing recorded is lost.</a:t>
            </a:r>
          </a:p>
        </p:txBody>
      </p:sp>
      <p:sp>
        <p:nvSpPr>
          <p:cNvPr id="20" name="TextBox 19"/>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promises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03  </a:t>
            </a:r>
            <a:r>
              <a:rPr sz="900">
                <a:solidFill>
                  <a:srgbClr val="7E8E86"/>
                </a:solidFill>
                <a:latin typeface="Menlo"/>
              </a:rPr>
              <a:t>GOALS</a:t>
            </a:r>
            <a:r>
              <a:rPr sz="900">
                <a:solidFill>
                  <a:srgbClr val="7E8E86"/>
                </a:solidFill>
                <a:latin typeface="Menlo"/>
              </a:rPr>
              <a:t>   ·   DELIBERATE NON-GOALS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What was cut on purpose, and why.</a:t>
            </a:r>
          </a:p>
        </p:txBody>
      </p:sp>
      <p:sp>
        <p:nvSpPr>
          <p:cNvPr id="5" name="TextBox 4"/>
          <p:cNvSpPr txBox="1"/>
          <p:nvPr/>
        </p:nvSpPr>
        <p:spPr>
          <a:xfrm>
            <a:off x="658368" y="1499616"/>
            <a:ext cx="8778240" cy="45720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These are documented scope decisions, not oversights. Two were later un-cut, on the record, when the product owner asked.</a:t>
            </a:r>
          </a:p>
        </p:txBody>
      </p:sp>
      <p:sp>
        <p:nvSpPr>
          <p:cNvPr id="6" name="Rectangle 5"/>
          <p:cNvSpPr/>
          <p:nvPr/>
        </p:nvSpPr>
        <p:spPr>
          <a:xfrm>
            <a:off x="658368" y="2011680"/>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103120"/>
            <a:ext cx="283464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CUT FROM SCOPE</a:t>
            </a:r>
          </a:p>
        </p:txBody>
      </p:sp>
      <p:sp>
        <p:nvSpPr>
          <p:cNvPr id="8" name="TextBox 7"/>
          <p:cNvSpPr txBox="1"/>
          <p:nvPr/>
        </p:nvSpPr>
        <p:spPr>
          <a:xfrm>
            <a:off x="3767328" y="2103120"/>
            <a:ext cx="6300216"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THE DOCUMENTED REASONING</a:t>
            </a:r>
          </a:p>
        </p:txBody>
      </p:sp>
      <p:sp>
        <p:nvSpPr>
          <p:cNvPr id="9" name="TextBox 8"/>
          <p:cNvSpPr txBox="1"/>
          <p:nvPr/>
        </p:nvSpPr>
        <p:spPr>
          <a:xfrm>
            <a:off x="10250424" y="2103120"/>
            <a:ext cx="118872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STATUS</a:t>
            </a:r>
          </a:p>
        </p:txBody>
      </p:sp>
      <p:sp>
        <p:nvSpPr>
          <p:cNvPr id="10" name="Rectangle 9"/>
          <p:cNvSpPr/>
          <p:nvPr/>
        </p:nvSpPr>
        <p:spPr>
          <a:xfrm>
            <a:off x="658368" y="2395728"/>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96312"/>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QR / barcode scanning</a:t>
            </a:r>
          </a:p>
        </p:txBody>
      </p:sp>
      <p:sp>
        <p:nvSpPr>
          <p:cNvPr id="12" name="TextBox 11"/>
          <p:cNvSpPr txBox="1"/>
          <p:nvPr/>
        </p:nvSpPr>
        <p:spPr>
          <a:xfrm>
            <a:off x="3767328" y="2496312"/>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With dozens of SKUs, searching a touchscreen grid is as fast and far cheaper to build.</a:t>
            </a:r>
          </a:p>
        </p:txBody>
      </p:sp>
      <p:sp>
        <p:nvSpPr>
          <p:cNvPr id="13" name="TextBox 12"/>
          <p:cNvSpPr txBox="1"/>
          <p:nvPr/>
        </p:nvSpPr>
        <p:spPr>
          <a:xfrm>
            <a:off x="10250424" y="2496312"/>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14" name="Rectangle 13"/>
          <p:cNvSpPr/>
          <p:nvPr/>
        </p:nvSpPr>
        <p:spPr>
          <a:xfrm>
            <a:off x="658368" y="297081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071401"/>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Flash sales &amp; rule-based discounts</a:t>
            </a:r>
          </a:p>
        </p:txBody>
      </p:sp>
      <p:sp>
        <p:nvSpPr>
          <p:cNvPr id="16" name="TextBox 15"/>
          <p:cNvSpPr txBox="1"/>
          <p:nvPr/>
        </p:nvSpPr>
        <p:spPr>
          <a:xfrm>
            <a:off x="3767328" y="3071401"/>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 manually entered discount at the till covers the first event's needs.</a:t>
            </a:r>
          </a:p>
        </p:txBody>
      </p:sp>
      <p:sp>
        <p:nvSpPr>
          <p:cNvPr id="17" name="TextBox 16"/>
          <p:cNvSpPr txBox="1"/>
          <p:nvPr/>
        </p:nvSpPr>
        <p:spPr>
          <a:xfrm>
            <a:off x="10250424" y="3071401"/>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18" name="Rectangle 17"/>
          <p:cNvSpPr/>
          <p:nvPr/>
        </p:nvSpPr>
        <p:spPr>
          <a:xfrm>
            <a:off x="658368" y="351100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611591"/>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Printed / PDF catalogue</a:t>
            </a:r>
          </a:p>
        </p:txBody>
      </p:sp>
      <p:sp>
        <p:nvSpPr>
          <p:cNvPr id="20" name="TextBox 19"/>
          <p:cNvSpPr txBox="1"/>
          <p:nvPr/>
        </p:nvSpPr>
        <p:spPr>
          <a:xfrm>
            <a:off x="3767328" y="3611591"/>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Re-confirmed as cut after pre-orders were pulled into the MVP.</a:t>
            </a:r>
          </a:p>
        </p:txBody>
      </p:sp>
      <p:sp>
        <p:nvSpPr>
          <p:cNvPr id="21" name="TextBox 20"/>
          <p:cNvSpPr txBox="1"/>
          <p:nvPr/>
        </p:nvSpPr>
        <p:spPr>
          <a:xfrm>
            <a:off x="10250424" y="3611591"/>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22" name="Rectangle 21"/>
          <p:cNvSpPr/>
          <p:nvPr/>
        </p:nvSpPr>
        <p:spPr>
          <a:xfrm>
            <a:off x="658368" y="4021426"/>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122010"/>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Excel import of sales transactions</a:t>
            </a:r>
          </a:p>
        </p:txBody>
      </p:sp>
      <p:sp>
        <p:nvSpPr>
          <p:cNvPr id="24" name="TextBox 23"/>
          <p:cNvSpPr txBox="1"/>
          <p:nvPr/>
        </p:nvSpPr>
        <p:spPr>
          <a:xfrm>
            <a:off x="3767328" y="4122010"/>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Importing historical money was judged too risky to reconcile; master data was not.</a:t>
            </a:r>
          </a:p>
        </p:txBody>
      </p:sp>
      <p:sp>
        <p:nvSpPr>
          <p:cNvPr id="25" name="TextBox 24"/>
          <p:cNvSpPr txBox="1"/>
          <p:nvPr/>
        </p:nvSpPr>
        <p:spPr>
          <a:xfrm>
            <a:off x="10250424" y="4122010"/>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26" name="Rectangle 25"/>
          <p:cNvSpPr/>
          <p:nvPr/>
        </p:nvSpPr>
        <p:spPr>
          <a:xfrm>
            <a:off x="658368" y="458573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86321"/>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Artist self-service portal</a:t>
            </a:r>
          </a:p>
        </p:txBody>
      </p:sp>
      <p:sp>
        <p:nvSpPr>
          <p:cNvPr id="28" name="TextBox 27"/>
          <p:cNvSpPr txBox="1"/>
          <p:nvPr/>
        </p:nvSpPr>
        <p:spPr>
          <a:xfrm>
            <a:off x="3767328" y="4686321"/>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Would require a network tier the product deliberately does not have.</a:t>
            </a:r>
          </a:p>
        </p:txBody>
      </p:sp>
      <p:sp>
        <p:nvSpPr>
          <p:cNvPr id="29" name="TextBox 28"/>
          <p:cNvSpPr txBox="1"/>
          <p:nvPr/>
        </p:nvSpPr>
        <p:spPr>
          <a:xfrm>
            <a:off x="10250424" y="4686321"/>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30" name="Rectangle 29"/>
          <p:cNvSpPr/>
          <p:nvPr/>
        </p:nvSpPr>
        <p:spPr>
          <a:xfrm>
            <a:off x="658368" y="5112324"/>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5212908"/>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Cloud tier / online storefront</a:t>
            </a:r>
          </a:p>
        </p:txBody>
      </p:sp>
      <p:sp>
        <p:nvSpPr>
          <p:cNvPr id="32" name="TextBox 31"/>
          <p:cNvSpPr txBox="1"/>
          <p:nvPr/>
        </p:nvSpPr>
        <p:spPr>
          <a:xfrm>
            <a:off x="3767328" y="5212908"/>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The whole value proposition is a local install with no vendor-held data.</a:t>
            </a:r>
          </a:p>
        </p:txBody>
      </p:sp>
      <p:sp>
        <p:nvSpPr>
          <p:cNvPr id="33" name="TextBox 32"/>
          <p:cNvSpPr txBox="1"/>
          <p:nvPr/>
        </p:nvSpPr>
        <p:spPr>
          <a:xfrm>
            <a:off x="10250424" y="5212908"/>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Still cut</a:t>
            </a:r>
          </a:p>
        </p:txBody>
      </p:sp>
      <p:sp>
        <p:nvSpPr>
          <p:cNvPr id="34" name="Rectangle 33"/>
          <p:cNvSpPr/>
          <p:nvPr/>
        </p:nvSpPr>
        <p:spPr>
          <a:xfrm>
            <a:off x="658368" y="5649689"/>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750273"/>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Master-data Excel import</a:t>
            </a:r>
          </a:p>
        </p:txBody>
      </p:sp>
      <p:sp>
        <p:nvSpPr>
          <p:cNvPr id="36" name="TextBox 35"/>
          <p:cNvSpPr txBox="1"/>
          <p:nvPr/>
        </p:nvSpPr>
        <p:spPr>
          <a:xfrm>
            <a:off x="3767328" y="5750273"/>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Un-cut on 2026-09-01 — migrating from an existing spreadsheet was blocking adoption.</a:t>
            </a:r>
          </a:p>
        </p:txBody>
      </p:sp>
      <p:sp>
        <p:nvSpPr>
          <p:cNvPr id="37" name="TextBox 36"/>
          <p:cNvSpPr txBox="1"/>
          <p:nvPr/>
        </p:nvSpPr>
        <p:spPr>
          <a:xfrm>
            <a:off x="10250424" y="5750273"/>
            <a:ext cx="11887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Built</a:t>
            </a:r>
          </a:p>
        </p:txBody>
      </p:sp>
      <p:sp>
        <p:nvSpPr>
          <p:cNvPr id="38" name="Rectangle 37"/>
          <p:cNvSpPr/>
          <p:nvPr/>
        </p:nvSpPr>
        <p:spPr>
          <a:xfrm>
            <a:off x="658368" y="6219389"/>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808" y="6319973"/>
            <a:ext cx="283464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Vendor / material / BOM tracking</a:t>
            </a:r>
          </a:p>
        </p:txBody>
      </p:sp>
      <p:sp>
        <p:nvSpPr>
          <p:cNvPr id="40" name="TextBox 39"/>
          <p:cNvSpPr txBox="1"/>
          <p:nvPr/>
        </p:nvSpPr>
        <p:spPr>
          <a:xfrm>
            <a:off x="3767328" y="6319973"/>
            <a:ext cx="63002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Added post-MVP on 2026-09-01, deliberately narrower than the original cut.</a:t>
            </a:r>
          </a:p>
        </p:txBody>
      </p:sp>
      <p:sp>
        <p:nvSpPr>
          <p:cNvPr id="41" name="TextBox 40"/>
          <p:cNvSpPr txBox="1"/>
          <p:nvPr/>
        </p:nvSpPr>
        <p:spPr>
          <a:xfrm>
            <a:off x="10250424" y="6319973"/>
            <a:ext cx="11887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Built</a:t>
            </a:r>
          </a:p>
        </p:txBody>
      </p:sp>
      <p:sp>
        <p:nvSpPr>
          <p:cNvPr id="42" name="TextBox 4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deliberate non-goals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04</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Methodology</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Why you should trust software you have not yet run: how it was specified, how it was tested, and what it does with your money when nobody is watching.</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04  </a:t>
            </a:r>
            <a:r>
              <a:rPr sz="900">
                <a:solidFill>
                  <a:srgbClr val="7E8E86"/>
                </a:solidFill>
                <a:latin typeface="Menlo"/>
              </a:rPr>
              <a:t>METHODOLOGY</a:t>
            </a:r>
            <a:r>
              <a:rPr sz="900">
                <a:solidFill>
                  <a:srgbClr val="7E8E86"/>
                </a:solidFill>
                <a:latin typeface="Menlo"/>
              </a:rPr>
              <a:t>   ·   HOW IT WAS BUILT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Specification first, every single time.</a:t>
            </a:r>
          </a:p>
        </p:txBody>
      </p:sp>
      <p:sp>
        <p:nvSpPr>
          <p:cNvPr id="5" name="Rounded Rectangle 4"/>
          <p:cNvSpPr/>
          <p:nvPr/>
        </p:nvSpPr>
        <p:spPr>
          <a:xfrm>
            <a:off x="658368"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01</a:t>
            </a:r>
          </a:p>
          <a:p>
            <a:pPr>
              <a:lnSpc>
                <a:spcPct val="115000"/>
              </a:lnSpc>
              <a:spcBef>
                <a:spcPts val="500"/>
              </a:spcBef>
              <a:spcAft>
                <a:spcPts val="0"/>
              </a:spcAft>
            </a:pPr>
            <a:r>
              <a:rPr sz="1250" b="1">
                <a:solidFill>
                  <a:srgbClr val="14201B"/>
                </a:solidFill>
                <a:latin typeface="Helvetica Neue"/>
              </a:rPr>
              <a:t>Nothing is built without a written spec</a:t>
            </a:r>
          </a:p>
          <a:p>
            <a:pPr>
              <a:lnSpc>
                <a:spcPct val="132000"/>
              </a:lnSpc>
              <a:spcBef>
                <a:spcPts val="500"/>
              </a:spcBef>
              <a:spcAft>
                <a:spcPts val="0"/>
              </a:spcAft>
            </a:pPr>
            <a:r>
              <a:rPr sz="950" b="0">
                <a:solidFill>
                  <a:srgbClr val="5D6F66"/>
                </a:solidFill>
                <a:latin typeface="Helvetica Neue"/>
              </a:rPr>
              <a:t>All 19 features live in a numbered folder with a specification, plan, research note and task list — approved before any production code.</a:t>
            </a:r>
          </a:p>
        </p:txBody>
      </p:sp>
      <p:sp>
        <p:nvSpPr>
          <p:cNvPr id="7" name="Rounded Rectangle 6"/>
          <p:cNvSpPr/>
          <p:nvPr/>
        </p:nvSpPr>
        <p:spPr>
          <a:xfrm>
            <a:off x="4332122"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5858"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02</a:t>
            </a:r>
          </a:p>
          <a:p>
            <a:pPr>
              <a:lnSpc>
                <a:spcPct val="115000"/>
              </a:lnSpc>
              <a:spcBef>
                <a:spcPts val="500"/>
              </a:spcBef>
              <a:spcAft>
                <a:spcPts val="0"/>
              </a:spcAft>
            </a:pPr>
            <a:r>
              <a:rPr sz="1250" b="1">
                <a:solidFill>
                  <a:srgbClr val="14201B"/>
                </a:solidFill>
                <a:latin typeface="Helvetica Neue"/>
              </a:rPr>
              <a:t>Rejected alternatives are recorded</a:t>
            </a:r>
          </a:p>
          <a:p>
            <a:pPr>
              <a:lnSpc>
                <a:spcPct val="132000"/>
              </a:lnSpc>
              <a:spcBef>
                <a:spcPts val="500"/>
              </a:spcBef>
              <a:spcAft>
                <a:spcPts val="0"/>
              </a:spcAft>
            </a:pPr>
            <a:r>
              <a:rPr sz="950" b="0">
                <a:solidFill>
                  <a:srgbClr val="5D6F66"/>
                </a:solidFill>
                <a:latin typeface="Helvetica Neue"/>
              </a:rPr>
              <a:t>Research notes are numbered decisions in Decision / Rationale / Alternatives form. A surprising report figure has a documented reason.</a:t>
            </a:r>
          </a:p>
        </p:txBody>
      </p:sp>
      <p:sp>
        <p:nvSpPr>
          <p:cNvPr id="9" name="Rounded Rectangle 8"/>
          <p:cNvSpPr/>
          <p:nvPr/>
        </p:nvSpPr>
        <p:spPr>
          <a:xfrm>
            <a:off x="8005876"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9612"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03</a:t>
            </a:r>
          </a:p>
          <a:p>
            <a:pPr>
              <a:lnSpc>
                <a:spcPct val="115000"/>
              </a:lnSpc>
              <a:spcBef>
                <a:spcPts val="500"/>
              </a:spcBef>
              <a:spcAft>
                <a:spcPts val="0"/>
              </a:spcAft>
            </a:pPr>
            <a:r>
              <a:rPr sz="1250" b="1">
                <a:solidFill>
                  <a:srgbClr val="14201B"/>
                </a:solidFill>
                <a:latin typeface="Helvetica Neue"/>
              </a:rPr>
              <a:t>A ratified engineering constitution</a:t>
            </a:r>
          </a:p>
          <a:p>
            <a:pPr>
              <a:lnSpc>
                <a:spcPct val="132000"/>
              </a:lnSpc>
              <a:spcBef>
                <a:spcPts val="500"/>
              </a:spcBef>
              <a:spcAft>
                <a:spcPts val="0"/>
              </a:spcAft>
            </a:pPr>
            <a:r>
              <a:rPr sz="950" b="0">
                <a:solidFill>
                  <a:srgbClr val="5D6F66"/>
                </a:solidFill>
                <a:latin typeface="Helvetica Neue"/>
              </a:rPr>
              <a:t>Five binding principles on code quality, testing, UX, security and performance, with formal amendment rules and written exceptions.</a:t>
            </a:r>
          </a:p>
        </p:txBody>
      </p:sp>
      <p:sp>
        <p:nvSpPr>
          <p:cNvPr id="11" name="Rounded Rectangle 10"/>
          <p:cNvSpPr/>
          <p:nvPr/>
        </p:nvSpPr>
        <p:spPr>
          <a:xfrm>
            <a:off x="658368"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04</a:t>
            </a:r>
          </a:p>
          <a:p>
            <a:pPr>
              <a:lnSpc>
                <a:spcPct val="115000"/>
              </a:lnSpc>
              <a:spcBef>
                <a:spcPts val="500"/>
              </a:spcBef>
              <a:spcAft>
                <a:spcPts val="0"/>
              </a:spcAft>
            </a:pPr>
            <a:r>
              <a:rPr sz="1250" b="1">
                <a:solidFill>
                  <a:srgbClr val="14201B"/>
                </a:solidFill>
                <a:latin typeface="Helvetica Neue"/>
              </a:rPr>
              <a:t>Tests run against real MySQL</a:t>
            </a:r>
          </a:p>
          <a:p>
            <a:pPr>
              <a:lnSpc>
                <a:spcPct val="132000"/>
              </a:lnSpc>
              <a:spcBef>
                <a:spcPts val="500"/>
              </a:spcBef>
              <a:spcAft>
                <a:spcPts val="0"/>
              </a:spcAft>
            </a:pPr>
            <a:r>
              <a:rPr sz="950" b="0">
                <a:solidFill>
                  <a:srgbClr val="5D6F66"/>
                </a:solidFill>
                <a:latin typeface="Helvetica Neue"/>
              </a:rPr>
              <a:t>Not a convenient in-memory fake. Enforced, because several migrations use raw MySQL-only CHECK constraints a substitute cannot execute.</a:t>
            </a:r>
          </a:p>
        </p:txBody>
      </p:sp>
      <p:sp>
        <p:nvSpPr>
          <p:cNvPr id="13" name="Rounded Rectangle 12"/>
          <p:cNvSpPr/>
          <p:nvPr/>
        </p:nvSpPr>
        <p:spPr>
          <a:xfrm>
            <a:off x="4332122"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5858"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05</a:t>
            </a:r>
          </a:p>
          <a:p>
            <a:pPr>
              <a:lnSpc>
                <a:spcPct val="115000"/>
              </a:lnSpc>
              <a:spcBef>
                <a:spcPts val="500"/>
              </a:spcBef>
              <a:spcAft>
                <a:spcPts val="0"/>
              </a:spcAft>
            </a:pPr>
            <a:r>
              <a:rPr sz="1250" b="1">
                <a:solidFill>
                  <a:srgbClr val="14201B"/>
                </a:solidFill>
                <a:latin typeface="Helvetica Neue"/>
              </a:rPr>
              <a:t>Nothing is done until driven in a browser</a:t>
            </a:r>
          </a:p>
          <a:p>
            <a:pPr>
              <a:lnSpc>
                <a:spcPct val="132000"/>
              </a:lnSpc>
              <a:spcBef>
                <a:spcPts val="500"/>
              </a:spcBef>
              <a:spcAft>
                <a:spcPts val="0"/>
              </a:spcAft>
            </a:pPr>
            <a:r>
              <a:rPr sz="950" b="0">
                <a:solidFill>
                  <a:srgbClr val="5D6F66"/>
                </a:solidFill>
                <a:latin typeface="Helvetica Neue"/>
              </a:rPr>
              <a:t>Screens are exercised against the live API with the console checked. Three real reporting defects were caught this way that the test suite passed.</a:t>
            </a:r>
          </a:p>
        </p:txBody>
      </p:sp>
      <p:sp>
        <p:nvSpPr>
          <p:cNvPr id="15" name="Rounded Rectangle 14"/>
          <p:cNvSpPr/>
          <p:nvPr/>
        </p:nvSpPr>
        <p:spPr>
          <a:xfrm>
            <a:off x="8005876" y="3474720"/>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9612" y="3621024"/>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PRACTICE 06</a:t>
            </a:r>
          </a:p>
          <a:p>
            <a:pPr>
              <a:lnSpc>
                <a:spcPct val="115000"/>
              </a:lnSpc>
              <a:spcBef>
                <a:spcPts val="500"/>
              </a:spcBef>
              <a:spcAft>
                <a:spcPts val="0"/>
              </a:spcAft>
            </a:pPr>
            <a:r>
              <a:rPr sz="1250" b="1">
                <a:solidFill>
                  <a:srgbClr val="14201B"/>
                </a:solidFill>
                <a:latin typeface="Helvetica Neue"/>
              </a:rPr>
              <a:t>A published bug log</a:t>
            </a:r>
          </a:p>
          <a:p>
            <a:pPr>
              <a:lnSpc>
                <a:spcPct val="132000"/>
              </a:lnSpc>
              <a:spcBef>
                <a:spcPts val="500"/>
              </a:spcBef>
              <a:spcAft>
                <a:spcPts val="0"/>
              </a:spcAft>
            </a:pPr>
            <a:r>
              <a:rPr sz="950" b="0">
                <a:solidFill>
                  <a:srgbClr val="5D6F66"/>
                </a:solidFill>
                <a:latin typeface="Helvetica Neue"/>
              </a:rPr>
              <a:t>27 defects logged with root cause and fix, each proven by a test that failed first and passed after.</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how it was built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04  </a:t>
            </a:r>
            <a:r>
              <a:rPr sz="900">
                <a:solidFill>
                  <a:srgbClr val="7E8E86"/>
                </a:solidFill>
                <a:latin typeface="Menlo"/>
              </a:rPr>
              <a:t>METHODOLOGY</a:t>
            </a:r>
            <a:r>
              <a:rPr sz="900">
                <a:solidFill>
                  <a:srgbClr val="7E8E86"/>
                </a:solidFill>
                <a:latin typeface="Menlo"/>
              </a:rPr>
              <a:t>   ·   PRACTICE MODE</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7-activity-log.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A whole second world on the
same laptop.</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One store-wide setting switches BoothPOS between DEMO and LIVE. Twenty transactional record types are stamped with the mode they were created in and filtered on every read.</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Train a cashier on a full, realistic shop — on the machine you will use for real money that weekend.</a:t>
            </a:r>
          </a:p>
          <a:p>
            <a:pPr>
              <a:lnSpc>
                <a:spcPct val="130000"/>
              </a:lnSpc>
              <a:spcAft>
                <a:spcPts val="700"/>
              </a:spcAft>
            </a:pPr>
            <a:r>
              <a:rPr sz="850" b="1">
                <a:solidFill>
                  <a:srgbClr val="8B2F9D"/>
                </a:solidFill>
                <a:latin typeface="Menlo"/>
              </a:rPr>
              <a:t>02   </a:t>
            </a:r>
            <a:r>
              <a:rPr sz="1050">
                <a:solidFill>
                  <a:srgbClr val="5D6F66"/>
                </a:solidFill>
                <a:latin typeface="Helvetica Neue"/>
              </a:rPr>
              <a:t>Rehearse an entire event day, including closing and reconciling the drawer.</a:t>
            </a:r>
          </a:p>
          <a:p>
            <a:pPr>
              <a:lnSpc>
                <a:spcPct val="130000"/>
              </a:lnSpc>
              <a:spcAft>
                <a:spcPts val="700"/>
              </a:spcAft>
            </a:pPr>
            <a:r>
              <a:rPr sz="850" b="1">
                <a:solidFill>
                  <a:srgbClr val="8B2F9D"/>
                </a:solidFill>
                <a:latin typeface="Menlo"/>
              </a:rPr>
              <a:t>03   </a:t>
            </a:r>
            <a:r>
              <a:rPr sz="1050">
                <a:solidFill>
                  <a:srgbClr val="5D6F66"/>
                </a:solidFill>
                <a:latin typeface="Helvetica Neue"/>
              </a:rPr>
              <a:t>Switch back to LIVE and every practice record disappears from every list and report.</a:t>
            </a:r>
          </a:p>
        </p:txBody>
      </p:sp>
      <p:sp>
        <p:nvSpPr>
          <p:cNvPr id="9" name="Rectangle 8"/>
          <p:cNvSpPr/>
          <p:nvPr/>
        </p:nvSpPr>
        <p:spPr>
          <a:xfrm>
            <a:off x="7013448" y="5394960"/>
            <a:ext cx="45198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Pictured: the activity log. Entries are written inside the same transaction as the change they record, so a rolled-back deletion can never leave a log claiming it happened.</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practice mode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04  </a:t>
            </a:r>
            <a:r>
              <a:rPr sz="900">
                <a:solidFill>
                  <a:srgbClr val="7E8E86"/>
                </a:solidFill>
                <a:latin typeface="Menlo"/>
              </a:rPr>
              <a:t>METHODOLOGY</a:t>
            </a:r>
            <a:r>
              <a:rPr sz="900">
                <a:solidFill>
                  <a:srgbClr val="7E8E86"/>
                </a:solidFill>
                <a:latin typeface="Menlo"/>
              </a:rPr>
              <a:t>   ·   WHERE THE MONEY IS DECIDED</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The cashier's screen never says what it earned.</a:t>
            </a:r>
          </a:p>
        </p:txBody>
      </p:sp>
      <p:sp>
        <p:nvSpPr>
          <p:cNvPr id="5" name="Rounded Rectangle 4"/>
          <p:cNvSpPr/>
          <p:nvPr/>
        </p:nvSpPr>
        <p:spPr>
          <a:xfrm>
            <a:off x="658368"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WHAT THE TILL SENDS</a:t>
            </a:r>
          </a:p>
          <a:p>
            <a:pPr>
              <a:lnSpc>
                <a:spcPct val="115000"/>
              </a:lnSpc>
              <a:spcBef>
                <a:spcPts val="500"/>
              </a:spcBef>
              <a:spcAft>
                <a:spcPts val="0"/>
              </a:spcAft>
            </a:pPr>
            <a:r>
              <a:rPr sz="1250" b="1">
                <a:solidFill>
                  <a:srgbClr val="14201B"/>
                </a:solidFill>
                <a:latin typeface="Helvetica Neue"/>
              </a:rPr>
              <a:t>Only which variant, and how many</a:t>
            </a:r>
          </a:p>
          <a:p>
            <a:pPr>
              <a:lnSpc>
                <a:spcPct val="132000"/>
              </a:lnSpc>
              <a:spcBef>
                <a:spcPts val="500"/>
              </a:spcBef>
              <a:spcAft>
                <a:spcPts val="0"/>
              </a:spcAft>
            </a:pPr>
            <a:r>
              <a:rPr sz="950" b="0">
                <a:solidFill>
                  <a:srgbClr val="5D6F66"/>
                </a:solidFill>
                <a:latin typeface="Helvetica Neue"/>
              </a:rPr>
              <a:t>Plus an optional discount and a one-time reference code. Nothing else from the screen reaches the ledger.</a:t>
            </a:r>
          </a:p>
        </p:txBody>
      </p:sp>
      <p:sp>
        <p:nvSpPr>
          <p:cNvPr id="7" name="Rounded Rectangle 6"/>
          <p:cNvSpPr/>
          <p:nvPr/>
        </p:nvSpPr>
        <p:spPr>
          <a:xfrm>
            <a:off x="4332122"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5858"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WHAT THE SERVER DECIDES</a:t>
            </a:r>
          </a:p>
          <a:p>
            <a:pPr>
              <a:lnSpc>
                <a:spcPct val="115000"/>
              </a:lnSpc>
              <a:spcBef>
                <a:spcPts val="500"/>
              </a:spcBef>
              <a:spcAft>
                <a:spcPts val="0"/>
              </a:spcAft>
            </a:pPr>
            <a:r>
              <a:rPr sz="1250" b="1">
                <a:solidFill>
                  <a:srgbClr val="14201B"/>
                </a:solidFill>
                <a:latin typeface="Helvetica Neue"/>
              </a:rPr>
              <a:t>Everything that is money</a:t>
            </a:r>
          </a:p>
          <a:p>
            <a:pPr>
              <a:lnSpc>
                <a:spcPct val="132000"/>
              </a:lnSpc>
              <a:spcBef>
                <a:spcPts val="500"/>
              </a:spcBef>
              <a:spcAft>
                <a:spcPts val="0"/>
              </a:spcAft>
            </a:pPr>
            <a:r>
              <a:rPr sz="950" b="0">
                <a:solidFill>
                  <a:srgbClr val="5D6F66"/>
                </a:solidFill>
                <a:latin typeface="Helvetica Neue"/>
              </a:rPr>
              <a:t>The price of each line from master data, the line total, whether the discount is legal, the order total, the cost of goods frozen onto the line, the change due, the stock delta and the receipt number.</a:t>
            </a:r>
          </a:p>
        </p:txBody>
      </p:sp>
      <p:sp>
        <p:nvSpPr>
          <p:cNvPr id="9" name="Rounded Rectangle 8"/>
          <p:cNvSpPr/>
          <p:nvPr/>
        </p:nvSpPr>
        <p:spPr>
          <a:xfrm>
            <a:off x="8005876"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9612"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WHY IT MATTERS</a:t>
            </a:r>
          </a:p>
          <a:p>
            <a:pPr>
              <a:lnSpc>
                <a:spcPct val="115000"/>
              </a:lnSpc>
              <a:spcBef>
                <a:spcPts val="500"/>
              </a:spcBef>
              <a:spcAft>
                <a:spcPts val="0"/>
              </a:spcAft>
            </a:pPr>
            <a:r>
              <a:rPr sz="1250" b="1">
                <a:solidFill>
                  <a:srgbClr val="14201B"/>
                </a:solidFill>
                <a:latin typeface="Helvetica Neue"/>
              </a:rPr>
              <a:t>Three commercial consequences</a:t>
            </a:r>
          </a:p>
          <a:p>
            <a:pPr>
              <a:lnSpc>
                <a:spcPct val="132000"/>
              </a:lnSpc>
              <a:spcBef>
                <a:spcPts val="500"/>
              </a:spcBef>
              <a:spcAft>
                <a:spcPts val="0"/>
              </a:spcAft>
            </a:pPr>
            <a:r>
              <a:rPr sz="950" b="0">
                <a:solidFill>
                  <a:srgbClr val="5D6F66"/>
                </a:solidFill>
                <a:latin typeface="Helvetica Neue"/>
              </a:rPr>
              <a:t>Settlements cannot be manipulated from the counter. Old reports do not drift, because cost and price are snapshotted per line. A lost connection cannot double-charge — a repeated reference returns the original sale.</a:t>
            </a:r>
          </a:p>
        </p:txBody>
      </p:sp>
      <p:sp>
        <p:nvSpPr>
          <p:cNvPr id="11" name="Rectangle 10"/>
          <p:cNvSpPr/>
          <p:nvPr/>
        </p:nvSpPr>
        <p:spPr>
          <a:xfrm>
            <a:off x="658368" y="3511296"/>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511296"/>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593592"/>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The same rule governs stock: one sanctioned write path locks the variant row, refuses a movement below zero, and records the level before and after — including for the bulk spreadsheet import.</a:t>
            </a:r>
          </a:p>
        </p:txBody>
      </p:sp>
      <p:sp>
        <p:nvSpPr>
          <p:cNvPr id="14" name="TextBox 13"/>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where the money is decided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05</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Features
&amp; how to use them</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143 catalogued capabilities across eight areas. What follows is the working tour — every screenshot is the real application, not a mockup.</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  </a:t>
            </a:r>
            <a:r>
              <a:rPr sz="900">
                <a:solidFill>
                  <a:srgbClr val="7E8E86"/>
                </a:solidFill>
                <a:latin typeface="Menlo"/>
              </a:rPr>
              <a:t>FEATURES</a:t>
            </a:r>
            <a:r>
              <a:rPr sz="900">
                <a:solidFill>
                  <a:srgbClr val="7E8E86"/>
                </a:solidFill>
                <a:latin typeface="Menlo"/>
              </a:rPr>
              <a:t>   ·   THE MAP</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Eight areas, 27 screens.</a:t>
            </a:r>
          </a:p>
        </p:txBody>
      </p:sp>
      <p:sp>
        <p:nvSpPr>
          <p:cNvPr id="5" name="Rectangle 4"/>
          <p:cNvSpPr/>
          <p:nvPr/>
        </p:nvSpPr>
        <p:spPr>
          <a:xfrm>
            <a:off x="658368" y="1591056"/>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82496"/>
            <a:ext cx="228600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AREA</a:t>
            </a:r>
          </a:p>
        </p:txBody>
      </p:sp>
      <p:sp>
        <p:nvSpPr>
          <p:cNvPr id="7" name="TextBox 6"/>
          <p:cNvSpPr txBox="1"/>
          <p:nvPr/>
        </p:nvSpPr>
        <p:spPr>
          <a:xfrm>
            <a:off x="3218688" y="1682496"/>
            <a:ext cx="7214616"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WHAT IT COVERS</a:t>
            </a:r>
          </a:p>
        </p:txBody>
      </p:sp>
      <p:sp>
        <p:nvSpPr>
          <p:cNvPr id="8" name="TextBox 7"/>
          <p:cNvSpPr txBox="1"/>
          <p:nvPr/>
        </p:nvSpPr>
        <p:spPr>
          <a:xfrm>
            <a:off x="10616184" y="1682496"/>
            <a:ext cx="82296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FEATURES</a:t>
            </a:r>
          </a:p>
        </p:txBody>
      </p:sp>
      <p:sp>
        <p:nvSpPr>
          <p:cNvPr id="9" name="Rectangle 8"/>
          <p:cNvSpPr/>
          <p:nvPr/>
        </p:nvSpPr>
        <p:spPr>
          <a:xfrm>
            <a:off x="658368" y="1975104"/>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75688"/>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Point of sale</a:t>
            </a:r>
          </a:p>
        </p:txBody>
      </p:sp>
      <p:sp>
        <p:nvSpPr>
          <p:cNvPr id="11" name="TextBox 10"/>
          <p:cNvSpPr txBox="1"/>
          <p:nvPr/>
        </p:nvSpPr>
        <p:spPr>
          <a:xfrm>
            <a:off x="3218688" y="2075688"/>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Cashier shifts, per-seller float, product grid, variant picker, cart, split payment, payment proof, receipt, sales list, drafts</a:t>
            </a:r>
          </a:p>
        </p:txBody>
      </p:sp>
      <p:sp>
        <p:nvSpPr>
          <p:cNvPr id="12" name="TextBox 11"/>
          <p:cNvSpPr txBox="1"/>
          <p:nvPr/>
        </p:nvSpPr>
        <p:spPr>
          <a:xfrm>
            <a:off x="10616184" y="2075688"/>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19</a:t>
            </a:r>
          </a:p>
        </p:txBody>
      </p:sp>
      <p:sp>
        <p:nvSpPr>
          <p:cNvPr id="13" name="Rectangle 12"/>
          <p:cNvSpPr/>
          <p:nvPr/>
        </p:nvSpPr>
        <p:spPr>
          <a:xfrm>
            <a:off x="658368" y="2618370"/>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718954"/>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Inventory &amp; master data</a:t>
            </a:r>
          </a:p>
        </p:txBody>
      </p:sp>
      <p:sp>
        <p:nvSpPr>
          <p:cNvPr id="15" name="TextBox 14"/>
          <p:cNvSpPr txBox="1"/>
          <p:nvPr/>
        </p:nvSpPr>
        <p:spPr>
          <a:xfrm>
            <a:off x="3218688" y="2718954"/>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Products and variants, generated codes, images, sellers, categories, customers, events, stock movements, bulk Excel</a:t>
            </a:r>
          </a:p>
        </p:txBody>
      </p:sp>
      <p:sp>
        <p:nvSpPr>
          <p:cNvPr id="16" name="TextBox 15"/>
          <p:cNvSpPr txBox="1"/>
          <p:nvPr/>
        </p:nvSpPr>
        <p:spPr>
          <a:xfrm>
            <a:off x="10616184" y="2718954"/>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19</a:t>
            </a:r>
          </a:p>
        </p:txBody>
      </p:sp>
      <p:sp>
        <p:nvSpPr>
          <p:cNvPr id="17" name="Rectangle 16"/>
          <p:cNvSpPr/>
          <p:nvPr/>
        </p:nvSpPr>
        <p:spPr>
          <a:xfrm>
            <a:off x="658368" y="3233298"/>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333882"/>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Pre-orders</a:t>
            </a:r>
          </a:p>
        </p:txBody>
      </p:sp>
      <p:sp>
        <p:nvSpPr>
          <p:cNvPr id="19" name="TextBox 18"/>
          <p:cNvSpPr txBox="1"/>
          <p:nvPr/>
        </p:nvSpPr>
        <p:spPr>
          <a:xfrm>
            <a:off x="3218688" y="3333882"/>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Five-stage lifecycle, deposits and instalments, arrival, guarded handover, shipments, invoices, email notification</a:t>
            </a:r>
          </a:p>
        </p:txBody>
      </p:sp>
      <p:sp>
        <p:nvSpPr>
          <p:cNvPr id="20" name="TextBox 19"/>
          <p:cNvSpPr txBox="1"/>
          <p:nvPr/>
        </p:nvSpPr>
        <p:spPr>
          <a:xfrm>
            <a:off x="10616184" y="3333882"/>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14</a:t>
            </a:r>
          </a:p>
        </p:txBody>
      </p:sp>
      <p:sp>
        <p:nvSpPr>
          <p:cNvPr id="21" name="Rectangle 20"/>
          <p:cNvSpPr/>
          <p:nvPr/>
        </p:nvSpPr>
        <p:spPr>
          <a:xfrm>
            <a:off x="658368" y="3845864"/>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946448"/>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Reports &amp; settlement</a:t>
            </a:r>
          </a:p>
        </p:txBody>
      </p:sp>
      <p:sp>
        <p:nvSpPr>
          <p:cNvPr id="23" name="TextBox 22"/>
          <p:cNvSpPr txBox="1"/>
          <p:nvPr/>
        </p:nvSpPr>
        <p:spPr>
          <a:xfrm>
            <a:off x="3218688" y="3946448"/>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Sales, cost &amp; profit, seller recap and payouts, seller cost, purchases, stock by seller, pre-order report, Excel export</a:t>
            </a:r>
          </a:p>
        </p:txBody>
      </p:sp>
      <p:sp>
        <p:nvSpPr>
          <p:cNvPr id="24" name="TextBox 23"/>
          <p:cNvSpPr txBox="1"/>
          <p:nvPr/>
        </p:nvSpPr>
        <p:spPr>
          <a:xfrm>
            <a:off x="10616184" y="3946448"/>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20</a:t>
            </a:r>
          </a:p>
        </p:txBody>
      </p:sp>
      <p:sp>
        <p:nvSpPr>
          <p:cNvPr id="25" name="Rectangle 24"/>
          <p:cNvSpPr/>
          <p:nvPr/>
        </p:nvSpPr>
        <p:spPr>
          <a:xfrm>
            <a:off x="658368" y="4470238"/>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570822"/>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Purchasing &amp; costing</a:t>
            </a:r>
          </a:p>
        </p:txBody>
      </p:sp>
      <p:sp>
        <p:nvSpPr>
          <p:cNvPr id="27" name="TextBox 26"/>
          <p:cNvSpPr txBox="1"/>
          <p:nvPr/>
        </p:nvSpPr>
        <p:spPr>
          <a:xfrm>
            <a:off x="3218688" y="4570822"/>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Suppliers, materials, multi-vendor prices, preferred supplier, per-variant recipes, cost breakdown, purchase orders</a:t>
            </a:r>
          </a:p>
        </p:txBody>
      </p:sp>
      <p:sp>
        <p:nvSpPr>
          <p:cNvPr id="28" name="TextBox 27"/>
          <p:cNvSpPr txBox="1"/>
          <p:nvPr/>
        </p:nvSpPr>
        <p:spPr>
          <a:xfrm>
            <a:off x="10616184" y="4570822"/>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19</a:t>
            </a:r>
          </a:p>
        </p:txBody>
      </p:sp>
      <p:sp>
        <p:nvSpPr>
          <p:cNvPr id="29" name="Rectangle 28"/>
          <p:cNvSpPr/>
          <p:nvPr/>
        </p:nvSpPr>
        <p:spPr>
          <a:xfrm>
            <a:off x="658368" y="5085166"/>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185750"/>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Administration</a:t>
            </a:r>
          </a:p>
        </p:txBody>
      </p:sp>
      <p:sp>
        <p:nvSpPr>
          <p:cNvPr id="31" name="TextBox 30"/>
          <p:cNvSpPr txBox="1"/>
          <p:nvPr/>
        </p:nvSpPr>
        <p:spPr>
          <a:xfrm>
            <a:off x="3218688" y="5185750"/>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Custom roles, staff accounts, store branding, payment channels, activity log, backup, DEMO/LIVE, language</a:t>
            </a:r>
          </a:p>
        </p:txBody>
      </p:sp>
      <p:sp>
        <p:nvSpPr>
          <p:cNvPr id="32" name="TextBox 31"/>
          <p:cNvSpPr txBox="1"/>
          <p:nvPr/>
        </p:nvSpPr>
        <p:spPr>
          <a:xfrm>
            <a:off x="10616184" y="5185750"/>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19</a:t>
            </a:r>
          </a:p>
        </p:txBody>
      </p:sp>
      <p:sp>
        <p:nvSpPr>
          <p:cNvPr id="33" name="Rectangle 32"/>
          <p:cNvSpPr/>
          <p:nvPr/>
        </p:nvSpPr>
        <p:spPr>
          <a:xfrm>
            <a:off x="658368" y="5676479"/>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777063"/>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Licensing</a:t>
            </a:r>
          </a:p>
        </p:txBody>
      </p:sp>
      <p:sp>
        <p:nvSpPr>
          <p:cNvPr id="35" name="TextBox 34"/>
          <p:cNvSpPr txBox="1"/>
          <p:nvPr/>
        </p:nvSpPr>
        <p:spPr>
          <a:xfrm>
            <a:off x="3218688" y="5777063"/>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Offline activation bound to the machine, Pro/Master tiers, licence catalogue, company onboarding, invoices</a:t>
            </a:r>
          </a:p>
        </p:txBody>
      </p:sp>
      <p:sp>
        <p:nvSpPr>
          <p:cNvPr id="36" name="TextBox 35"/>
          <p:cNvSpPr txBox="1"/>
          <p:nvPr/>
        </p:nvSpPr>
        <p:spPr>
          <a:xfrm>
            <a:off x="10616184" y="5777063"/>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18</a:t>
            </a:r>
          </a:p>
        </p:txBody>
      </p:sp>
      <p:sp>
        <p:nvSpPr>
          <p:cNvPr id="37" name="Rectangle 36"/>
          <p:cNvSpPr/>
          <p:nvPr/>
        </p:nvSpPr>
        <p:spPr>
          <a:xfrm>
            <a:off x="658368" y="6270153"/>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6370737"/>
            <a:ext cx="228600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Deployment</a:t>
            </a:r>
          </a:p>
        </p:txBody>
      </p:sp>
      <p:sp>
        <p:nvSpPr>
          <p:cNvPr id="39" name="TextBox 38"/>
          <p:cNvSpPr txBox="1"/>
          <p:nvPr/>
        </p:nvSpPr>
        <p:spPr>
          <a:xfrm>
            <a:off x="3218688" y="6370737"/>
            <a:ext cx="721461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Native install, Docker store image, offline USB delivery, backup to external drive, upgrades and rollback</a:t>
            </a:r>
          </a:p>
        </p:txBody>
      </p:sp>
      <p:sp>
        <p:nvSpPr>
          <p:cNvPr id="40" name="TextBox 39"/>
          <p:cNvSpPr txBox="1"/>
          <p:nvPr/>
        </p:nvSpPr>
        <p:spPr>
          <a:xfrm>
            <a:off x="10616184" y="6370737"/>
            <a:ext cx="82296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15</a:t>
            </a:r>
          </a:p>
        </p:txBody>
      </p:sp>
      <p:sp>
        <p:nvSpPr>
          <p:cNvPr id="41" name="TextBox 40"/>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OPENING THE TILL</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cashier-session.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A shift with a counted float, tied to
a named person and a named event.</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No sale can be rung up outside an open shift, one person cannot have two shifts open, and a shift only opens against an event that is actually running.</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Open Cashier Session, pick today's event and enter the cash in the drawer.</a:t>
            </a:r>
          </a:p>
          <a:p>
            <a:pPr>
              <a:lnSpc>
                <a:spcPct val="130000"/>
              </a:lnSpc>
              <a:spcAft>
                <a:spcPts val="700"/>
              </a:spcAft>
            </a:pPr>
            <a:r>
              <a:rPr sz="850" b="1">
                <a:solidFill>
                  <a:srgbClr val="8B2F9D"/>
                </a:solidFill>
                <a:latin typeface="Menlo"/>
              </a:rPr>
              <a:t>02   </a:t>
            </a:r>
            <a:r>
              <a:rPr sz="1050">
                <a:solidFill>
                  <a:srgbClr val="5D6F66"/>
                </a:solidFill>
                <a:latin typeface="Helvetica Neue"/>
              </a:rPr>
              <a:t>Optionally split that float by seller — the rows must sum exactly to the total.</a:t>
            </a:r>
          </a:p>
          <a:p>
            <a:pPr>
              <a:lnSpc>
                <a:spcPct val="130000"/>
              </a:lnSpc>
              <a:spcAft>
                <a:spcPts val="700"/>
              </a:spcAft>
            </a:pPr>
            <a:r>
              <a:rPr sz="850" b="1">
                <a:solidFill>
                  <a:srgbClr val="8B2F9D"/>
                </a:solidFill>
                <a:latin typeface="Menlo"/>
              </a:rPr>
              <a:t>03   </a:t>
            </a:r>
            <a:r>
              <a:rPr sz="1050">
                <a:solidFill>
                  <a:srgbClr val="5D6F66"/>
                </a:solidFill>
                <a:latin typeface="Helvetica Neue"/>
              </a:rPr>
              <a:t>Trade. Transaction count, total sales and cash taken are visible at any moment.</a:t>
            </a:r>
          </a:p>
          <a:p>
            <a:pPr>
              <a:lnSpc>
                <a:spcPct val="130000"/>
              </a:lnSpc>
              <a:spcAft>
                <a:spcPts val="700"/>
              </a:spcAft>
            </a:pPr>
            <a:r>
              <a:rPr sz="850" b="1">
                <a:solidFill>
                  <a:srgbClr val="8B2F9D"/>
                </a:solidFill>
                <a:latin typeface="Menlo"/>
              </a:rPr>
              <a:t>04   </a:t>
            </a:r>
            <a:r>
              <a:rPr sz="1050">
                <a:solidFill>
                  <a:srgbClr val="5D6F66"/>
                </a:solidFill>
                <a:latin typeface="Helvetica Neue"/>
              </a:rPr>
              <a:t>At close, count the tin and type the figure. A difference demands a written note.</a:t>
            </a:r>
          </a:p>
        </p:txBody>
      </p:sp>
      <p:sp>
        <p:nvSpPr>
          <p:cNvPr id="9" name="Rectangle 8"/>
          <p:cNvSpPr/>
          <p:nvPr/>
        </p:nvSpPr>
        <p:spPr>
          <a:xfrm>
            <a:off x="658368" y="5394960"/>
            <a:ext cx="47484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Worth knowing: the live payment-method breakdown reports verified cash only. Transfer and QRIS are recorded but stay pending, so they do not appear in that breakdown.</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opening the till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FINDING THE ITEM</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27-pos-variant-picker.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A touch grid, narrowed by
seller and category.</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At a booth carrying three artists' ranges, the fastest path to the right item is to eliminate the other two. Filters are multi-select; search matches name or code as you type.</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Tap a card, or type a name or product code into the search box.</a:t>
            </a:r>
          </a:p>
          <a:p>
            <a:pPr>
              <a:lnSpc>
                <a:spcPct val="130000"/>
              </a:lnSpc>
              <a:spcAft>
                <a:spcPts val="700"/>
              </a:spcAft>
            </a:pPr>
            <a:r>
              <a:rPr sz="850" b="1">
                <a:solidFill>
                  <a:srgbClr val="8B2F9D"/>
                </a:solidFill>
                <a:latin typeface="Menlo"/>
              </a:rPr>
              <a:t>02   </a:t>
            </a:r>
            <a:r>
              <a:rPr sz="1050">
                <a:solidFill>
                  <a:srgbClr val="5D6F66"/>
                </a:solidFill>
                <a:latin typeface="Helvetica Neue"/>
              </a:rPr>
              <a:t>Products with several sizes or colours open a variant picker with each variant's item code, price and stock.</a:t>
            </a:r>
          </a:p>
          <a:p>
            <a:pPr>
              <a:lnSpc>
                <a:spcPct val="130000"/>
              </a:lnSpc>
              <a:spcAft>
                <a:spcPts val="700"/>
              </a:spcAft>
            </a:pPr>
            <a:r>
              <a:rPr sz="850" b="1">
                <a:solidFill>
                  <a:srgbClr val="8B2F9D"/>
                </a:solidFill>
                <a:latin typeface="Menlo"/>
              </a:rPr>
              <a:t>03   </a:t>
            </a:r>
            <a:r>
              <a:rPr sz="1050">
                <a:solidFill>
                  <a:srgbClr val="5D6F66"/>
                </a:solidFill>
                <a:latin typeface="Helvetica Neue"/>
              </a:rPr>
              <a:t>Pick the variant — it lands in the cart at the price the server holds, never one the screen supplied.</a:t>
            </a:r>
          </a:p>
        </p:txBody>
      </p:sp>
      <p:sp>
        <p:nvSpPr>
          <p:cNvPr id="9" name="TextBox 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finding the item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THE MULTI-SELLER BASKET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28-pos-cart-three-sellers.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One customer, one payment, three
different artists paid correctly.</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This is the feature the whole product exists for. The basket holds a keychain, an enamel pin and an acrylic standee from three different sellers. The buyer pays once.</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Add items from any sellers, in any order — nothing asks you to keep them separate.</a:t>
            </a:r>
          </a:p>
          <a:p>
            <a:pPr>
              <a:lnSpc>
                <a:spcPct val="130000"/>
              </a:lnSpc>
              <a:spcAft>
                <a:spcPts val="700"/>
              </a:spcAft>
            </a:pPr>
            <a:r>
              <a:rPr sz="850" b="1">
                <a:solidFill>
                  <a:srgbClr val="8B2F9D"/>
                </a:solidFill>
                <a:latin typeface="Menlo"/>
              </a:rPr>
              <a:t>02   </a:t>
            </a:r>
            <a:r>
              <a:rPr sz="1050">
                <a:solidFill>
                  <a:srgbClr val="5D6F66"/>
                </a:solidFill>
                <a:latin typeface="Helvetica Neue"/>
              </a:rPr>
              <a:t>Attach a customer, or leave it as a walk-in sale.</a:t>
            </a:r>
          </a:p>
          <a:p>
            <a:pPr>
              <a:lnSpc>
                <a:spcPct val="130000"/>
              </a:lnSpc>
              <a:spcAft>
                <a:spcPts val="700"/>
              </a:spcAft>
            </a:pPr>
            <a:r>
              <a:rPr sz="850" b="1">
                <a:solidFill>
                  <a:srgbClr val="8B2F9D"/>
                </a:solidFill>
                <a:latin typeface="Menlo"/>
              </a:rPr>
              <a:t>03   </a:t>
            </a:r>
            <a:r>
              <a:rPr sz="1050">
                <a:solidFill>
                  <a:srgbClr val="5D6F66"/>
                </a:solidFill>
                <a:latin typeface="Helvetica Neue"/>
              </a:rPr>
              <a:t>Enter an order-level discount; one larger than the subtotal is refused.</a:t>
            </a:r>
          </a:p>
          <a:p>
            <a:pPr>
              <a:lnSpc>
                <a:spcPct val="130000"/>
              </a:lnSpc>
              <a:spcAft>
                <a:spcPts val="700"/>
              </a:spcAft>
            </a:pPr>
            <a:r>
              <a:rPr sz="850" b="1">
                <a:solidFill>
                  <a:srgbClr val="8B2F9D"/>
                </a:solidFill>
                <a:latin typeface="Menlo"/>
              </a:rPr>
              <a:t>04   </a:t>
            </a:r>
            <a:r>
              <a:rPr sz="1050">
                <a:solidFill>
                  <a:srgbClr val="5D6F66"/>
                </a:solidFill>
                <a:latin typeface="Helvetica Neue"/>
              </a:rPr>
              <a:t>Park the basket with Save as draft and pick it up later.</a:t>
            </a:r>
          </a:p>
        </p:txBody>
      </p:sp>
      <p:sp>
        <p:nvSpPr>
          <p:cNvPr id="9" name="Rectangle 8"/>
          <p:cNvSpPr/>
          <p:nvPr/>
        </p:nvSpPr>
        <p:spPr>
          <a:xfrm>
            <a:off x="658368" y="5394960"/>
            <a:ext cx="47484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Worth knowing: resuming a saved draft restores the items and discount, but not an attached customer — re-attach them before taking payment.</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multi-seller basket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TAKING THE MONEY</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30-pos-split-payment.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Split one sale across cash,
transfer and QRIS.</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Half in cash and the rest by QR is an ordinary request at an event, and the till treats it as ordinary.</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Cash offers tendered-amount shortcuts and computes change automatically.</a:t>
            </a:r>
          </a:p>
          <a:p>
            <a:pPr>
              <a:lnSpc>
                <a:spcPct val="130000"/>
              </a:lnSpc>
              <a:spcAft>
                <a:spcPts val="700"/>
              </a:spcAft>
            </a:pPr>
            <a:r>
              <a:rPr sz="850" b="1">
                <a:solidFill>
                  <a:srgbClr val="8B2F9D"/>
                </a:solidFill>
                <a:latin typeface="Menlo"/>
              </a:rPr>
              <a:t>02   </a:t>
            </a:r>
            <a:r>
              <a:rPr sz="1050">
                <a:solidFill>
                  <a:srgbClr val="5D6F66"/>
                </a:solidFill>
                <a:latin typeface="Helvetica Neue"/>
              </a:rPr>
              <a:t>Enter less than the total and the button becomes Add &amp; continue — commit that part, then choose another method.</a:t>
            </a:r>
          </a:p>
          <a:p>
            <a:pPr>
              <a:lnSpc>
                <a:spcPct val="130000"/>
              </a:lnSpc>
              <a:spcAft>
                <a:spcPts val="700"/>
              </a:spcAft>
            </a:pPr>
            <a:r>
              <a:rPr sz="850" b="1">
                <a:solidFill>
                  <a:srgbClr val="8B2F9D"/>
                </a:solidFill>
                <a:latin typeface="Menlo"/>
              </a:rPr>
              <a:t>03   </a:t>
            </a:r>
            <a:r>
              <a:rPr sz="1050">
                <a:solidFill>
                  <a:srgbClr val="5D6F66"/>
                </a:solidFill>
                <a:latin typeface="Helvetica Neue"/>
              </a:rPr>
              <a:t>For transfer or QRIS a photo of the proof is required before the sale can be saved.</a:t>
            </a:r>
          </a:p>
          <a:p>
            <a:pPr>
              <a:lnSpc>
                <a:spcPct val="130000"/>
              </a:lnSpc>
              <a:spcAft>
                <a:spcPts val="700"/>
              </a:spcAft>
            </a:pPr>
            <a:r>
              <a:rPr sz="850" b="1">
                <a:solidFill>
                  <a:srgbClr val="8B2F9D"/>
                </a:solidFill>
                <a:latin typeface="Menlo"/>
              </a:rPr>
              <a:t>04   </a:t>
            </a:r>
            <a:r>
              <a:rPr sz="1050">
                <a:solidFill>
                  <a:srgbClr val="5D6F66"/>
                </a:solidFill>
                <a:latin typeface="Helvetica Neue"/>
              </a:rPr>
              <a:t>Payments totalling less than the amount due are refused by the server.</a:t>
            </a:r>
          </a:p>
        </p:txBody>
      </p:sp>
      <p:sp>
        <p:nvSpPr>
          <p:cNvPr id="9" name="Rectangle 8"/>
          <p:cNvSpPr/>
          <p:nvPr/>
        </p:nvSpPr>
        <p:spPr>
          <a:xfrm>
            <a:off x="7013448" y="5394960"/>
            <a:ext cx="45198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Pictured: Rp 50.000 already recorded in cash, Rp 72.000 remaining, QRIS selected and the confirm button held until proof is attached.</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taking the money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THE RECEIPT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36-sales-receipt-modal.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No thermal printer, no paper rolls,
no power socket you do not have.</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The receipt is drawn on screen in large, high-contrast type intended to be photographed by the buyer from their side of the table.</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It carries your store identity, the event's name, location and dates, the transaction number and the cashier.</a:t>
            </a:r>
          </a:p>
          <a:p>
            <a:pPr>
              <a:lnSpc>
                <a:spcPct val="130000"/>
              </a:lnSpc>
              <a:spcAft>
                <a:spcPts val="700"/>
              </a:spcAft>
            </a:pPr>
            <a:r>
              <a:rPr sz="850" b="1">
                <a:solidFill>
                  <a:srgbClr val="8B2F9D"/>
                </a:solidFill>
                <a:latin typeface="Menlo"/>
              </a:rPr>
              <a:t>02   </a:t>
            </a:r>
            <a:r>
              <a:rPr sz="1050">
                <a:solidFill>
                  <a:srgbClr val="5D6F66"/>
                </a:solidFill>
                <a:latin typeface="Helvetica Neue"/>
              </a:rPr>
              <a:t>Split payments are itemised — the example shows Rp 20.000 by transfer and Rp 15.000 in cash.</a:t>
            </a:r>
          </a:p>
          <a:p>
            <a:pPr>
              <a:lnSpc>
                <a:spcPct val="130000"/>
              </a:lnSpc>
              <a:spcAft>
                <a:spcPts val="700"/>
              </a:spcAft>
            </a:pPr>
            <a:r>
              <a:rPr sz="850" b="1">
                <a:solidFill>
                  <a:srgbClr val="8B2F9D"/>
                </a:solidFill>
                <a:latin typeface="Menlo"/>
              </a:rPr>
              <a:t>03   </a:t>
            </a:r>
            <a:r>
              <a:rPr sz="1050">
                <a:solidFill>
                  <a:srgbClr val="5D6F66"/>
                </a:solidFill>
                <a:latin typeface="Helvetica Neue"/>
              </a:rPr>
              <a:t>Save it as an image or PDF, or re-open any past receipt from Sales.</a:t>
            </a:r>
          </a:p>
        </p:txBody>
      </p:sp>
      <p:sp>
        <p:nvSpPr>
          <p:cNvPr id="9" name="Rectangle 8"/>
          <p:cNvSpPr/>
          <p:nvPr/>
        </p:nvSpPr>
        <p:spPr>
          <a:xfrm>
            <a:off x="658368" y="5394960"/>
            <a:ext cx="47484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Worth knowing: receipts always print in Indonesian, whatever language the interface is set to. The login and activation screens are too.</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receipt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05.1  </a:t>
            </a:r>
            <a:r>
              <a:rPr sz="900">
                <a:solidFill>
                  <a:srgbClr val="7E8E86"/>
                </a:solidFill>
                <a:latin typeface="Menlo"/>
              </a:rPr>
              <a:t>POINT OF SALE</a:t>
            </a:r>
            <a:r>
              <a:rPr sz="900">
                <a:solidFill>
                  <a:srgbClr val="7E8E86"/>
                </a:solidFill>
                <a:latin typeface="Menlo"/>
              </a:rPr>
              <a:t>   ·   AFTERWARDS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sales.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Every sale, searchable, with
the sellers named on the row.</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Search filters instantly across transaction number, customer, cashier and seller. One transaction can list two sellers.</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Click the transaction number, or View items, for the products sold.</a:t>
            </a:r>
          </a:p>
          <a:p>
            <a:pPr>
              <a:lnSpc>
                <a:spcPct val="130000"/>
              </a:lnSpc>
              <a:spcAft>
                <a:spcPts val="700"/>
              </a:spcAft>
            </a:pPr>
            <a:r>
              <a:rPr sz="850" b="1">
                <a:solidFill>
                  <a:srgbClr val="8B2F9D"/>
                </a:solidFill>
                <a:latin typeface="Menlo"/>
              </a:rPr>
              <a:t>02   </a:t>
            </a:r>
            <a:r>
              <a:rPr sz="1050">
                <a:solidFill>
                  <a:srgbClr val="5D6F66"/>
                </a:solidFill>
                <a:latin typeface="Helvetica Neue"/>
              </a:rPr>
              <a:t>Click View receipt to reopen the printable receipt.</a:t>
            </a:r>
          </a:p>
          <a:p>
            <a:pPr>
              <a:lnSpc>
                <a:spcPct val="130000"/>
              </a:lnSpc>
              <a:spcAft>
                <a:spcPts val="700"/>
              </a:spcAft>
            </a:pPr>
            <a:r>
              <a:rPr sz="850" b="1">
                <a:solidFill>
                  <a:srgbClr val="8B2F9D"/>
                </a:solidFill>
                <a:latin typeface="Menlo"/>
              </a:rPr>
              <a:t>03   </a:t>
            </a:r>
            <a:r>
              <a:rPr sz="1050">
                <a:solidFill>
                  <a:srgbClr val="5D6F66"/>
                </a:solidFill>
                <a:latin typeface="Helvetica Neue"/>
              </a:rPr>
              <a:t>Click a seller's name to filter the list to their transactions.</a:t>
            </a:r>
          </a:p>
          <a:p>
            <a:pPr>
              <a:lnSpc>
                <a:spcPct val="130000"/>
              </a:lnSpc>
              <a:spcAft>
                <a:spcPts val="700"/>
              </a:spcAft>
            </a:pPr>
            <a:r>
              <a:rPr sz="850" b="1">
                <a:solidFill>
                  <a:srgbClr val="8B2F9D"/>
                </a:solidFill>
                <a:latin typeface="Menlo"/>
              </a:rPr>
              <a:t>04   </a:t>
            </a:r>
            <a:r>
              <a:rPr sz="1050">
                <a:solidFill>
                  <a:srgbClr val="5D6F66"/>
                </a:solidFill>
                <a:latin typeface="Helvetica Neue"/>
              </a:rPr>
              <a:t>Export .xlsx downloads the event's sales grouped by product.</a:t>
            </a:r>
          </a:p>
        </p:txBody>
      </p:sp>
      <p:sp>
        <p:nvSpPr>
          <p:cNvPr id="9" name="Rectangle 8"/>
          <p:cNvSpPr/>
          <p:nvPr/>
        </p:nvSpPr>
        <p:spPr>
          <a:xfrm>
            <a:off x="7013448" y="5394960"/>
            <a:ext cx="45198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Read the tiles carefully: the four headline figures include money already collected on pre-orders, while the list below is counter sales only — so the two will not reconcile at an event that took pre-orders.</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afterwards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05.2  </a:t>
            </a:r>
            <a:r>
              <a:rPr sz="900">
                <a:solidFill>
                  <a:srgbClr val="7E8E86"/>
                </a:solidFill>
                <a:latin typeface="Menlo"/>
              </a:rPr>
              <a:t>INVENTORY</a:t>
            </a:r>
            <a:r>
              <a:rPr sz="900">
                <a:solidFill>
                  <a:srgbClr val="7E8E86"/>
                </a:solidFill>
                <a:latin typeface="Menlo"/>
              </a:rPr>
              <a:t>   ·   PRODUCTS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products.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One product, many variants — each with
its own code, price and stock.</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A keychain design in Standard, Special and Glow is one product with three variants. Price and stock live on the variant, because that is what actually sells out.</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Give each seller and category a short code once; product codes are then generated for you.</a:t>
            </a:r>
          </a:p>
          <a:p>
            <a:pPr>
              <a:lnSpc>
                <a:spcPct val="130000"/>
              </a:lnSpc>
              <a:spcAft>
                <a:spcPts val="700"/>
              </a:spcAft>
            </a:pPr>
            <a:r>
              <a:rPr sz="850" b="1">
                <a:solidFill>
                  <a:srgbClr val="8B2F9D"/>
                </a:solidFill>
                <a:latin typeface="Menlo"/>
              </a:rPr>
              <a:t>02   </a:t>
            </a:r>
            <a:r>
              <a:rPr sz="1050">
                <a:solidFill>
                  <a:srgbClr val="5D6F66"/>
                </a:solidFill>
                <a:latin typeface="Helvetica Neue"/>
              </a:rPr>
              <a:t>The list shows the 8-character product code; each variant's 12-character item code appears in the edit panel and Detail pop-up.</a:t>
            </a:r>
          </a:p>
          <a:p>
            <a:pPr>
              <a:lnSpc>
                <a:spcPct val="130000"/>
              </a:lnSpc>
              <a:spcAft>
                <a:spcPts val="700"/>
              </a:spcAft>
            </a:pPr>
            <a:r>
              <a:rPr sz="850" b="1">
                <a:solidFill>
                  <a:srgbClr val="8B2F9D"/>
                </a:solidFill>
                <a:latin typeface="Menlo"/>
              </a:rPr>
              <a:t>03   </a:t>
            </a:r>
            <a:r>
              <a:rPr sz="1050">
                <a:solidFill>
                  <a:srgbClr val="5D6F66"/>
                </a:solidFill>
                <a:latin typeface="Helvetica Neue"/>
              </a:rPr>
              <a:t>Rename the product, seller or category later — the codes never move, so price lists and old receipts stay valid.</a:t>
            </a:r>
          </a:p>
        </p:txBody>
      </p:sp>
      <p:sp>
        <p:nvSpPr>
          <p:cNvPr id="9" name="TextBox 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products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05.2  </a:t>
            </a:r>
            <a:r>
              <a:rPr sz="900">
                <a:solidFill>
                  <a:srgbClr val="7E8E86"/>
                </a:solidFill>
                <a:latin typeface="Menlo"/>
              </a:rPr>
              <a:t>INVENTORY</a:t>
            </a:r>
            <a:r>
              <a:rPr sz="900">
                <a:solidFill>
                  <a:srgbClr val="7E8E86"/>
                </a:solidFill>
                <a:latin typeface="Menlo"/>
              </a:rPr>
              <a:t>   ·   STOCK YOU CAN DEFEND</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stock.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An append-only history,
not just a number.</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Every movement records the level before and after, who did it, and what caused it. Six movement types cover the whole life of an item.</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Filter the history by type to see only sales, only adjustments, or only pre-order handovers.</a:t>
            </a:r>
          </a:p>
          <a:p>
            <a:pPr>
              <a:lnSpc>
                <a:spcPct val="130000"/>
              </a:lnSpc>
              <a:spcAft>
                <a:spcPts val="700"/>
              </a:spcAft>
            </a:pPr>
            <a:r>
              <a:rPr sz="850" b="1">
                <a:solidFill>
                  <a:srgbClr val="8B2F9D"/>
                </a:solidFill>
                <a:latin typeface="Menlo"/>
              </a:rPr>
              <a:t>02   </a:t>
            </a:r>
            <a:r>
              <a:rPr sz="1050">
                <a:solidFill>
                  <a:srgbClr val="5D6F66"/>
                </a:solidFill>
                <a:latin typeface="Helvetica Neue"/>
              </a:rPr>
              <a:t>Correct a miscount with Stock adjustment — a reason is mandatory and the entry is audited.</a:t>
            </a:r>
          </a:p>
          <a:p>
            <a:pPr>
              <a:lnSpc>
                <a:spcPct val="130000"/>
              </a:lnSpc>
              <a:spcAft>
                <a:spcPts val="700"/>
              </a:spcAft>
            </a:pPr>
            <a:r>
              <a:rPr sz="850" b="1">
                <a:solidFill>
                  <a:srgbClr val="8B2F9D"/>
                </a:solidFill>
                <a:latin typeface="Menlo"/>
              </a:rPr>
              <a:t>03   </a:t>
            </a:r>
            <a:r>
              <a:rPr sz="1050">
                <a:solidFill>
                  <a:srgbClr val="5D6F66"/>
                </a:solidFill>
                <a:latin typeface="Helvetica Neue"/>
              </a:rPr>
              <a:t>A movement that would push stock below zero is refused, naming the item and what is available.</a:t>
            </a:r>
          </a:p>
        </p:txBody>
      </p:sp>
      <p:sp>
        <p:nvSpPr>
          <p:cNvPr id="9" name="Rectangle 8"/>
          <p:cNvSpPr/>
          <p:nvPr/>
        </p:nvSpPr>
        <p:spPr>
          <a:xfrm>
            <a:off x="7013448" y="5394960"/>
            <a:ext cx="4519879" cy="786384"/>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8A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8A6A1E"/>
                </a:solidFill>
                <a:latin typeface="Helvetica Neue"/>
              </a:rPr>
              <a:t>Worth knowing: a multi-line adjustment saves line by line, not as one batch — if line three is rejected, lines one and two are already saved. Low-stock thresholds are set through the Excel import, not on screen.</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stock you can defend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05.2  </a:t>
            </a:r>
            <a:r>
              <a:rPr sz="900">
                <a:solidFill>
                  <a:srgbClr val="7E8E86"/>
                </a:solidFill>
                <a:latin typeface="Menlo"/>
              </a:rPr>
              <a:t>INVENTORY</a:t>
            </a:r>
            <a:r>
              <a:rPr sz="900">
                <a:solidFill>
                  <a:srgbClr val="7E8E86"/>
                </a:solidFill>
                <a:latin typeface="Menlo"/>
              </a:rPr>
              <a:t>   ·   MOVING IN FROM A SPREADSHEET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40-master-data-import.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One workbook, ten sheets,
processed in dependency order.</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"I already keep everything in a spreadsheet" is the most common reason a booth never switches systems. Sellers, categories, products, stock, suppliers, materials, prices, recipes, roles and users all arrive in one file.</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Download the template — it ships with a worked example that imports as-is.</a:t>
            </a:r>
          </a:p>
          <a:p>
            <a:pPr>
              <a:lnSpc>
                <a:spcPct val="130000"/>
              </a:lnSpc>
              <a:spcAft>
                <a:spcPts val="700"/>
              </a:spcAft>
            </a:pPr>
            <a:r>
              <a:rPr sz="850" b="1">
                <a:solidFill>
                  <a:srgbClr val="8B2F9D"/>
                </a:solidFill>
                <a:latin typeface="Menlo"/>
              </a:rPr>
              <a:t>02   </a:t>
            </a:r>
            <a:r>
              <a:rPr sz="1050">
                <a:solidFill>
                  <a:srgbClr val="5D6F66"/>
                </a:solidFill>
                <a:latin typeface="Helvetica Neue"/>
              </a:rPr>
              <a:t>Paste your rows in and upload with preview ticked: a dry run reports every problem by sheet, row, column and reason, changing nothing.</a:t>
            </a:r>
          </a:p>
          <a:p>
            <a:pPr>
              <a:lnSpc>
                <a:spcPct val="130000"/>
              </a:lnSpc>
              <a:spcAft>
                <a:spcPts val="700"/>
              </a:spcAft>
            </a:pPr>
            <a:r>
              <a:rPr sz="850" b="1">
                <a:solidFill>
                  <a:srgbClr val="8B2F9D"/>
                </a:solidFill>
                <a:latin typeface="Menlo"/>
              </a:rPr>
              <a:t>03   </a:t>
            </a:r>
            <a:r>
              <a:rPr sz="1050">
                <a:solidFill>
                  <a:srgbClr val="5D6F66"/>
                </a:solidFill>
                <a:latin typeface="Helvetica Neue"/>
              </a:rPr>
              <a:t>Fix what it names, then upload for real. Exports round-trip back through import.</a:t>
            </a:r>
          </a:p>
        </p:txBody>
      </p:sp>
      <p:sp>
        <p:nvSpPr>
          <p:cNvPr id="9" name="Rectangle 8"/>
          <p:cNvSpPr/>
          <p:nvPr/>
        </p:nvSpPr>
        <p:spPr>
          <a:xfrm>
            <a:off x="658368" y="5394960"/>
            <a:ext cx="47484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All-or-nothing by design. A 500-row file with one typo imports nothing rather than leaving you half-migrated. The dry run is what makes that safe.</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moving in from a spreadsheet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05.2  </a:t>
            </a:r>
            <a:r>
              <a:rPr sz="900">
                <a:solidFill>
                  <a:srgbClr val="7E8E86"/>
                </a:solidFill>
                <a:latin typeface="Menlo"/>
              </a:rPr>
              <a:t>APPENDIX</a:t>
            </a:r>
            <a:r>
              <a:rPr sz="900">
                <a:solidFill>
                  <a:srgbClr val="7E8E86"/>
                </a:solidFill>
                <a:latin typeface="Menlo"/>
              </a:rPr>
              <a:t>   ·   SUPPORTING RECORDS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Sellers, categories, customers, events.</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sellers.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Sellers. The artists sharing your booth. On a Pro licence only one may be active; the limit is shown before you hit it.</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0-categories.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Categories. Including sub-categories and display order, which drives grouping on the till's grid.</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1-customers.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Customers. Contact details plus a full purchase history, counter sales and pre-orders together.</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2-events.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Events. Name, location, dates and the event's own cost — the figure that turns gross profit into a real answer.</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Deleting is guarded throughout: a record still referenced by real history cannot be removed, only deactivated. Removed records are soft-deleted, so history survives.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05.3  </a:t>
            </a:r>
            <a:r>
              <a:rPr sz="900">
                <a:solidFill>
                  <a:srgbClr val="7E8E86"/>
                </a:solidFill>
                <a:latin typeface="Menlo"/>
              </a:rPr>
              <a:t>PRE-ORDERS</a:t>
            </a:r>
            <a:r>
              <a:rPr sz="900">
                <a:solidFill>
                  <a:srgbClr val="7E8E86"/>
                </a:solidFill>
                <a:latin typeface="Menlo"/>
              </a:rPr>
              <a:t>   ·   THE LIFECYCLE</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38-preorder-detail.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Take money now for goods
that do not exist yet.</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A pre-order runs through five guarded stages — Ordered, Deposit paid, Arrived, Settled, Handed over — each checked against a strict state machine so it cannot be skipped.</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Record the customer, items, expected date and whether it is collection or courier.</a:t>
            </a:r>
          </a:p>
          <a:p>
            <a:pPr>
              <a:lnSpc>
                <a:spcPct val="130000"/>
              </a:lnSpc>
              <a:spcAft>
                <a:spcPts val="700"/>
              </a:spcAft>
            </a:pPr>
            <a:r>
              <a:rPr sz="850" b="1">
                <a:solidFill>
                  <a:srgbClr val="8B2F9D"/>
                </a:solidFill>
                <a:latin typeface="Menlo"/>
              </a:rPr>
              <a:t>02   </a:t>
            </a:r>
            <a:r>
              <a:rPr sz="1050">
                <a:solidFill>
                  <a:srgbClr val="5D6F66"/>
                </a:solidFill>
                <a:latin typeface="Helvetica Neue"/>
              </a:rPr>
              <a:t>Take a deposit; the order moves itself to Deposit paid on the first payment.</a:t>
            </a:r>
          </a:p>
          <a:p>
            <a:pPr>
              <a:lnSpc>
                <a:spcPct val="130000"/>
              </a:lnSpc>
              <a:spcAft>
                <a:spcPts val="700"/>
              </a:spcAft>
            </a:pPr>
            <a:r>
              <a:rPr sz="850" b="1">
                <a:solidFill>
                  <a:srgbClr val="8B2F9D"/>
                </a:solidFill>
                <a:latin typeface="Menlo"/>
              </a:rPr>
              <a:t>03   </a:t>
            </a:r>
            <a:r>
              <a:rPr sz="1050">
                <a:solidFill>
                  <a:srgbClr val="5D6F66"/>
                </a:solidFill>
                <a:latin typeface="Helvetica Neue"/>
              </a:rPr>
              <a:t>Mark Arrived when the goods land from the supplier.</a:t>
            </a:r>
          </a:p>
          <a:p>
            <a:pPr>
              <a:lnSpc>
                <a:spcPct val="130000"/>
              </a:lnSpc>
              <a:spcAft>
                <a:spcPts val="700"/>
              </a:spcAft>
            </a:pPr>
            <a:r>
              <a:rPr sz="850" b="1">
                <a:solidFill>
                  <a:srgbClr val="8B2F9D"/>
                </a:solidFill>
                <a:latin typeface="Menlo"/>
              </a:rPr>
              <a:t>04   </a:t>
            </a:r>
            <a:r>
              <a:rPr sz="1050">
                <a:solidFill>
                  <a:srgbClr val="5D6F66"/>
                </a:solidFill>
                <a:latin typeface="Helvetica Neue"/>
              </a:rPr>
              <a:t>Take the balance, hand over, and add courier and tracking details if shipping.</a:t>
            </a:r>
          </a:p>
        </p:txBody>
      </p:sp>
      <p:sp>
        <p:nvSpPr>
          <p:cNvPr id="9" name="Rectangle 8"/>
          <p:cNvSpPr/>
          <p:nvPr/>
        </p:nvSpPr>
        <p:spPr>
          <a:xfrm>
            <a:off x="7013448" y="5394960"/>
            <a:ext cx="45198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The rule people get backwards: creating a pre-order does NOT touch stock — the goods do not physically exist. Stock goes UP on arrival and DOWN on handover.</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lifecycle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05.3  </a:t>
            </a:r>
            <a:r>
              <a:rPr sz="900">
                <a:solidFill>
                  <a:srgbClr val="7E8E86"/>
                </a:solidFill>
                <a:latin typeface="Menlo"/>
              </a:rPr>
              <a:t>APPENDIX</a:t>
            </a:r>
            <a:r>
              <a:rPr sz="900">
                <a:solidFill>
                  <a:srgbClr val="7E8E86"/>
                </a:solidFill>
                <a:latin typeface="Menlo"/>
              </a:rPr>
              <a:t>   ·   PRE-ORDER PAPERWORK</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Deposits, instalments, and a document for every stage.</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preorders.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The list. Searchable by customer, filterable by status, fulfilment and seller, with a live summary of counts and outstanding balance.</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9-preorder-invoice.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The document. Heading switches between Invoice, Receipt and Cancelled, with a live status pill, per-line seller names and PDF download.</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9-preorder-record-payment.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The ledger. Deposits and instalments accumulate on one running balance; each payment can produce its own receipt.</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6-preorders.jpg"/>
          <p:cNvPicPr>
            <a:picLocks noChangeAspect="1"/>
          </p:cNvPicPr>
          <p:nvPr/>
        </p:nvPicPr>
        <p:blipFill>
          <a:blip r:embed="rId2"/>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The report. Grouped by stage against how much has actually been paid, with a per-seller breakdown and drill-down.</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Handover is blocked until fully paid — and blocked again if the item sold out over the counter after arriving, rather than driving stock negative.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05.4  </a:t>
            </a:r>
            <a:r>
              <a:rPr sz="900">
                <a:solidFill>
                  <a:srgbClr val="7E8E86"/>
                </a:solidFill>
                <a:latin typeface="Menlo"/>
              </a:rPr>
              <a:t>REPORTS</a:t>
            </a:r>
            <a:r>
              <a:rPr sz="900">
                <a:solidFill>
                  <a:srgbClr val="7E8E86"/>
                </a:solidFill>
                <a:latin typeface="Menlo"/>
              </a:rPr>
              <a:t>   ·   THE ONE THAT SETTLES ARGUMENTS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6-reports.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What you owe each artist, recalculated
from live sale lines.</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The stored settlement table is a payment-status record and a cache — never the source of truth for sales value. Open the report and every figure is re-derived first.</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Pick the event. Every seller shows units, sales, payable, paid, outstanding and status.</a:t>
            </a:r>
          </a:p>
          <a:p>
            <a:pPr>
              <a:lnSpc>
                <a:spcPct val="130000"/>
              </a:lnSpc>
              <a:spcAft>
                <a:spcPts val="700"/>
              </a:spcAft>
            </a:pPr>
            <a:r>
              <a:rPr sz="850" b="1">
                <a:solidFill>
                  <a:srgbClr val="8B2F9D"/>
                </a:solidFill>
                <a:latin typeface="Menlo"/>
              </a:rPr>
              <a:t>02   </a:t>
            </a:r>
            <a:r>
              <a:rPr sz="1050">
                <a:solidFill>
                  <a:srgbClr val="5D6F66"/>
                </a:solidFill>
                <a:latin typeface="Helvetica Neue"/>
              </a:rPr>
              <a:t>Click a row for the individual transactions behind the total — counter sales and pre-orders together.</a:t>
            </a:r>
          </a:p>
          <a:p>
            <a:pPr>
              <a:lnSpc>
                <a:spcPct val="130000"/>
              </a:lnSpc>
              <a:spcAft>
                <a:spcPts val="700"/>
              </a:spcAft>
            </a:pPr>
            <a:r>
              <a:rPr sz="850" b="1">
                <a:solidFill>
                  <a:srgbClr val="8B2F9D"/>
                </a:solidFill>
                <a:latin typeface="Menlo"/>
              </a:rPr>
              <a:t>03   </a:t>
            </a:r>
            <a:r>
              <a:rPr sz="1050">
                <a:solidFill>
                  <a:srgbClr val="5D6F66"/>
                </a:solidFill>
                <a:latin typeface="Helvetica Neue"/>
              </a:rPr>
              <a:t>Record what you have handed over; the status re-derives to part-paid or paid.</a:t>
            </a:r>
          </a:p>
          <a:p>
            <a:pPr>
              <a:lnSpc>
                <a:spcPct val="130000"/>
              </a:lnSpc>
              <a:spcAft>
                <a:spcPts val="700"/>
              </a:spcAft>
            </a:pPr>
            <a:r>
              <a:rPr sz="850" b="1">
                <a:solidFill>
                  <a:srgbClr val="8B2F9D"/>
                </a:solidFill>
                <a:latin typeface="Menlo"/>
              </a:rPr>
              <a:t>04   </a:t>
            </a:r>
            <a:r>
              <a:rPr sz="1050">
                <a:solidFill>
                  <a:srgbClr val="5D6F66"/>
                </a:solidFill>
                <a:latin typeface="Helvetica Neue"/>
              </a:rPr>
              <a:t>Export .xlsx and send each artist their own copy, transaction detail included.</a:t>
            </a:r>
          </a:p>
        </p:txBody>
      </p:sp>
      <p:sp>
        <p:nvSpPr>
          <p:cNvPr id="9" name="Rectangle 8"/>
          <p:cNvSpPr/>
          <p:nvPr/>
        </p:nvSpPr>
        <p:spPr>
          <a:xfrm>
            <a:off x="658368" y="5394960"/>
            <a:ext cx="47484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Every active seller is listed, even those who sold nothing — a zero row is a checkable answer, where a missing row is an unanswered question.</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the one that settles arguments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05.4  </a:t>
            </a:r>
            <a:r>
              <a:rPr sz="900">
                <a:solidFill>
                  <a:srgbClr val="7E8E86"/>
                </a:solidFill>
                <a:latin typeface="Menlo"/>
              </a:rPr>
              <a:t>APPENDIX</a:t>
            </a:r>
            <a:r>
              <a:rPr sz="900">
                <a:solidFill>
                  <a:srgbClr val="7E8E86"/>
                </a:solidFill>
                <a:latin typeface="Menlo"/>
              </a:rPr>
              <a:t>   ·   THE OTHER REPORT TABS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Six report tabs, seven Excel exports.</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31-report-cost-profit.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Cost &amp; Profit. Revenue, cost of goods, gross profit, the event's own cost and net profit.</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2-report-seller-cost.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Seller Cost. The same profit maths per artist, so you see which ranges carry margin.</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34-report-stock-by-seller.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Stock by Seller. What each artist still has on your shelves, with a per-SKU drill-down.</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33-report-purchases.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Purchases. Every supplier order. The total spans all statuses including draft and cancelled — filter for committed spend.</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Under all of them: pre-order money counts only once it is really in the till, prorated across the order's lines by value share. Cancelled orders contribute nothing.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05.5  </a:t>
            </a:r>
            <a:r>
              <a:rPr sz="900">
                <a:solidFill>
                  <a:srgbClr val="7E8E86"/>
                </a:solidFill>
                <a:latin typeface="Menlo"/>
              </a:rPr>
              <a:t>PURCHASING</a:t>
            </a:r>
            <a:r>
              <a:rPr sz="900">
                <a:solidFill>
                  <a:srgbClr val="7E8E86"/>
                </a:solidFill>
                <a:latin typeface="Menlo"/>
              </a:rPr>
              <a:t>   ·   WHAT AN ITEM REALLY COSTS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42-variant-bom-cost.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A recipe per variant, priced from what
your suppliers actually charge.</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Record which suppliers sell each material and at what price, then attach the materials one unit of a specific variant needs. Recipes hang off the variant, not the product.</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Add suppliers and materials, then record a price per supplier-material pair.</a:t>
            </a:r>
          </a:p>
          <a:p>
            <a:pPr>
              <a:lnSpc>
                <a:spcPct val="130000"/>
              </a:lnSpc>
              <a:spcAft>
                <a:spcPts val="700"/>
              </a:spcAft>
            </a:pPr>
            <a:r>
              <a:rPr sz="850" b="1">
                <a:solidFill>
                  <a:srgbClr val="8B2F9D"/>
                </a:solidFill>
                <a:latin typeface="Menlo"/>
              </a:rPr>
              <a:t>02   </a:t>
            </a:r>
            <a:r>
              <a:rPr sz="1050">
                <a:solidFill>
                  <a:srgbClr val="5D6F66"/>
                </a:solidFill>
                <a:latin typeface="Helvetica Neue"/>
              </a:rPr>
              <a:t>Flag your usual supplier as preferred; flagging one un-flags any other for that material.</a:t>
            </a:r>
          </a:p>
          <a:p>
            <a:pPr>
              <a:lnSpc>
                <a:spcPct val="130000"/>
              </a:lnSpc>
              <a:spcAft>
                <a:spcPts val="700"/>
              </a:spcAft>
            </a:pPr>
            <a:r>
              <a:rPr sz="850" b="1">
                <a:solidFill>
                  <a:srgbClr val="8B2F9D"/>
                </a:solidFill>
                <a:latin typeface="Menlo"/>
              </a:rPr>
              <a:t>03   </a:t>
            </a:r>
            <a:r>
              <a:rPr sz="1050">
                <a:solidFill>
                  <a:srgbClr val="5D6F66"/>
                </a:solidFill>
                <a:latin typeface="Helvetica Neue"/>
              </a:rPr>
              <a:t>Build the recipe on the variant. Quantities may be fractional — 0.25 of a sheet is valid.</a:t>
            </a:r>
          </a:p>
          <a:p>
            <a:pPr>
              <a:lnSpc>
                <a:spcPct val="130000"/>
              </a:lnSpc>
              <a:spcAft>
                <a:spcPts val="700"/>
              </a:spcAft>
            </a:pPr>
            <a:r>
              <a:rPr sz="850" b="1">
                <a:solidFill>
                  <a:srgbClr val="8B2F9D"/>
                </a:solidFill>
                <a:latin typeface="Menlo"/>
              </a:rPr>
              <a:t>04   </a:t>
            </a:r>
            <a:r>
              <a:rPr sz="1050">
                <a:solidFill>
                  <a:srgbClr val="5D6F66"/>
                </a:solidFill>
                <a:latin typeface="Helvetica Neue"/>
              </a:rPr>
              <a:t>Open the cost breakdown to see material cost beside the cost price you typed in.</a:t>
            </a:r>
          </a:p>
        </p:txBody>
      </p:sp>
      <p:sp>
        <p:nvSpPr>
          <p:cNvPr id="9" name="Rectangle 8"/>
          <p:cNvSpPr/>
          <p:nvPr/>
        </p:nvSpPr>
        <p:spPr>
          <a:xfrm>
            <a:off x="7013448" y="5394960"/>
            <a:ext cx="45198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Deliberately read-only. The recipe cost never overwrites the cost price your profit reports and settlements already use. With several suppliers, the preferred price is used — otherwise the cheapest.</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what an item really costs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05.5  </a:t>
            </a:r>
            <a:r>
              <a:rPr sz="900">
                <a:solidFill>
                  <a:srgbClr val="7E8E86"/>
                </a:solidFill>
                <a:latin typeface="Menlo"/>
              </a:rPr>
              <a:t>APPENDIX</a:t>
            </a:r>
            <a:r>
              <a:rPr sz="900">
                <a:solidFill>
                  <a:srgbClr val="7E8E86"/>
                </a:solidFill>
                <a:latin typeface="Menlo"/>
              </a:rPr>
              <a:t>   ·   RESTOCKING</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Suppliers, materials and purchase orders.</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4-vendors.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Suppliers. Contact details and the materials each one sells. A supplier with registered prices cannot be deleted.</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5-materials.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Materials. Raw stock with its own unit and price list, separate from sellable merchandise.</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44-material-vendor-prices.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Vendor prices. Several suppliers per material; the preferred one sets the cost reference.</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48-purchase-order-detail.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Purchase orders. Draft → Ordered → Received → Paid. Receiving tops up material stock automatically.</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Honest limits: material stock has no screen of its own yet, non-cash supplier payments do not complete, and re-editing an existing draft's lines is unreliable.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05.6  </a:t>
            </a:r>
            <a:r>
              <a:rPr sz="900">
                <a:solidFill>
                  <a:srgbClr val="7E8E86"/>
                </a:solidFill>
                <a:latin typeface="Menlo"/>
              </a:rPr>
              <a:t>ADMINISTRATION</a:t>
            </a:r>
            <a:r>
              <a:rPr sz="900">
                <a:solidFill>
                  <a:srgbClr val="7E8E86"/>
                </a:solidFill>
                <a:latin typeface="Menlo"/>
              </a:rPr>
              <a:t>   ·   WHO CAN SEE WHAT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1478" y="1206246"/>
            <a:ext cx="5707380" cy="3581400"/>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51-role-permissions.jpg"/>
          <p:cNvPicPr>
            <a:picLocks noChangeAspect="1"/>
          </p:cNvPicPr>
          <p:nvPr/>
        </p:nvPicPr>
        <p:blipFill>
          <a:blip r:embed="rId2"/>
          <a:stretch>
            <a:fillRect/>
          </a:stretch>
        </p:blipFill>
        <p:spPr>
          <a:xfrm>
            <a:off x="6510528" y="1225296"/>
            <a:ext cx="5669280" cy="3543300"/>
          </a:xfrm>
          <a:prstGeom prst="rect">
            <a:avLst/>
          </a:prstGeom>
        </p:spPr>
      </p:pic>
      <p:sp>
        <p:nvSpPr>
          <p:cNvPr id="6" name="TextBox 5"/>
          <p:cNvSpPr txBox="1"/>
          <p:nvPr/>
        </p:nvSpPr>
        <p:spPr>
          <a:xfrm>
            <a:off x="658368" y="960120"/>
            <a:ext cx="47484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Roles are a list of screens, not
a fixed four-way choice.</a:t>
            </a:r>
          </a:p>
        </p:txBody>
      </p:sp>
      <p:sp>
        <p:nvSpPr>
          <p:cNvPr id="7" name="TextBox 6"/>
          <p:cNvSpPr txBox="1"/>
          <p:nvPr/>
        </p:nvSpPr>
        <p:spPr>
          <a:xfrm>
            <a:off x="658368" y="2112264"/>
            <a:ext cx="47484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Four roles ship ready to use — Owner, Admin, Cashier and Inventory — but a role is just a set of menu permissions, so you can build your own.</a:t>
            </a:r>
          </a:p>
        </p:txBody>
      </p:sp>
      <p:sp>
        <p:nvSpPr>
          <p:cNvPr id="8" name="TextBox 7"/>
          <p:cNvSpPr txBox="1"/>
          <p:nvPr/>
        </p:nvSpPr>
        <p:spPr>
          <a:xfrm>
            <a:off x="658368" y="2898648"/>
            <a:ext cx="47484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The default Cashier gets the till, shift, events, customers, pre-orders and sales list — and pointedly not the profit or settlement reports.</a:t>
            </a:r>
          </a:p>
          <a:p>
            <a:pPr>
              <a:lnSpc>
                <a:spcPct val="130000"/>
              </a:lnSpc>
              <a:spcAft>
                <a:spcPts val="700"/>
              </a:spcAft>
            </a:pPr>
            <a:r>
              <a:rPr sz="850" b="1">
                <a:solidFill>
                  <a:srgbClr val="8B2F9D"/>
                </a:solidFill>
                <a:latin typeface="Menlo"/>
              </a:rPr>
              <a:t>02   </a:t>
            </a:r>
            <a:r>
              <a:rPr sz="1050">
                <a:solidFill>
                  <a:srgbClr val="5D6F66"/>
                </a:solidFill>
                <a:latin typeface="Helvetica Neue"/>
              </a:rPr>
              <a:t>Tick or untick individual screens to match how your booth actually runs.</a:t>
            </a:r>
          </a:p>
          <a:p>
            <a:pPr>
              <a:lnSpc>
                <a:spcPct val="130000"/>
              </a:lnSpc>
              <a:spcAft>
                <a:spcPts val="700"/>
              </a:spcAft>
            </a:pPr>
            <a:r>
              <a:rPr sz="850" b="1">
                <a:solidFill>
                  <a:srgbClr val="8B2F9D"/>
                </a:solidFill>
                <a:latin typeface="Menlo"/>
              </a:rPr>
              <a:t>03   </a:t>
            </a:r>
            <a:r>
              <a:rPr sz="1050">
                <a:solidFill>
                  <a:srgbClr val="5D6F66"/>
                </a:solidFill>
                <a:latin typeface="Helvetica Neue"/>
              </a:rPr>
              <a:t>Staff accounts carry a photo and last-access time; each person manages their own password.</a:t>
            </a:r>
          </a:p>
        </p:txBody>
      </p:sp>
      <p:sp>
        <p:nvSpPr>
          <p:cNvPr id="9" name="Rectangle 8"/>
          <p:cNvSpPr/>
          <p:nvPr/>
        </p:nvSpPr>
        <p:spPr>
          <a:xfrm>
            <a:off x="658368" y="5394960"/>
            <a:ext cx="4748479" cy="786384"/>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394960"/>
            <a:ext cx="34925" cy="786384"/>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477256"/>
            <a:ext cx="44741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Enforced on the server in three layers — 45 request-level gates, 15 policy classes and inline role checks. A cashier cannot reach your margins even by calling the API directly.</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who can see what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05.6  </a:t>
            </a:r>
            <a:r>
              <a:rPr sz="900">
                <a:solidFill>
                  <a:srgbClr val="7E8E86"/>
                </a:solidFill>
                <a:latin typeface="Menlo"/>
              </a:rPr>
              <a:t>APPENDIX</a:t>
            </a:r>
            <a:r>
              <a:rPr sz="900">
                <a:solidFill>
                  <a:srgbClr val="7E8E86"/>
                </a:solidFill>
                <a:latin typeface="Menlo"/>
              </a:rPr>
              <a:t>   ·   MAKING IT YOURS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Store identity, payment channels and the safety net.</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20-settings.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Store profile. Name, address, contact, logo and receipt footer, plus the DEMO/LIVE switch and Pro/Master tier.</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52-settings-store-profile.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Brand accent. This demo store runs purple (#8b2f9d); the shipped default is green. Applied live, not by rebuilding.</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8-users.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Staff. Accounts with photos, roles and last-access tracking, searchable and filterable.</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21-settings-payment.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Payment channels &amp; invoice details. QR images uploaded once; account numbers masked to the last four digits for non-admins.</a:t>
            </a:r>
          </a:p>
        </p:txBody>
      </p:sp>
      <p:sp>
        <p:nvSpPr>
          <p:cNvPr id="17" name="TextBox 1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Backup: one command copies the database AND the payment-proof images to an external drive. The backup is an ordinary MySQL dump — never a proprietary format.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05.7  </a:t>
            </a:r>
            <a:r>
              <a:rPr sz="900">
                <a:solidFill>
                  <a:srgbClr val="7E8E86"/>
                </a:solidFill>
                <a:latin typeface="Menlo"/>
              </a:rPr>
              <a:t>LICENSING</a:t>
            </a:r>
            <a:r>
              <a:rPr sz="900">
                <a:solidFill>
                  <a:srgbClr val="7E8E86"/>
                </a:solidFill>
                <a:latin typeface="Menlo"/>
              </a:rPr>
              <a:t>   ·   HOW THE PRODUCT IS PROTECTED</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9318" y="1206246"/>
            <a:ext cx="5935980" cy="3724275"/>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53-license-activation.jpg"/>
          <p:cNvPicPr>
            <a:picLocks noChangeAspect="1"/>
          </p:cNvPicPr>
          <p:nvPr/>
        </p:nvPicPr>
        <p:blipFill>
          <a:blip r:embed="rId2"/>
          <a:stretch>
            <a:fillRect/>
          </a:stretch>
        </p:blipFill>
        <p:spPr>
          <a:xfrm>
            <a:off x="658368" y="1225296"/>
            <a:ext cx="5897880" cy="3686175"/>
          </a:xfrm>
          <a:prstGeom prst="rect">
            <a:avLst/>
          </a:prstGeom>
        </p:spPr>
      </p:pic>
      <p:sp>
        <p:nvSpPr>
          <p:cNvPr id="6" name="TextBox 5"/>
          <p:cNvSpPr txBox="1"/>
          <p:nvPr/>
        </p:nvSpPr>
        <p:spPr>
          <a:xfrm>
            <a:off x="7013448" y="960120"/>
            <a:ext cx="4519879" cy="91440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14201B"/>
                </a:solidFill>
                <a:latin typeface="Helvetica Neue"/>
              </a:rPr>
              <a:t>One licence, one installation —
verified entirely offline.</a:t>
            </a:r>
          </a:p>
        </p:txBody>
      </p:sp>
      <p:sp>
        <p:nvSpPr>
          <p:cNvPr id="7" name="TextBox 6"/>
          <p:cNvSpPr txBox="1"/>
          <p:nvPr/>
        </p:nvSpPr>
        <p:spPr>
          <a:xfrm>
            <a:off x="7013448" y="2112264"/>
            <a:ext cx="4519879" cy="822960"/>
          </a:xfrm>
          <a:prstGeom prst="rect">
            <a:avLst/>
          </a:prstGeom>
          <a:noFill/>
        </p:spPr>
        <p:txBody>
          <a:bodyPr wrap="square" lIns="0" rIns="0" tIns="0" bIns="0">
            <a:spAutoFit/>
          </a:bodyPr>
          <a:lstStyle/>
          <a:p>
            <a:pPr>
              <a:lnSpc>
                <a:spcPct val="140000"/>
              </a:lnSpc>
              <a:spcBef>
                <a:spcPts val="0"/>
              </a:spcBef>
              <a:spcAft>
                <a:spcPts val="0"/>
              </a:spcAft>
            </a:pPr>
            <a:r>
              <a:rPr sz="1050" b="0">
                <a:solidFill>
                  <a:srgbClr val="5D6F66"/>
                </a:solidFill>
                <a:latin typeface="Helvetica Neue"/>
              </a:rPr>
              <a:t>A brand-new install is locked. Every screen bounces to activation, and the server refuses every request — including login itself — until a valid key is entered.</a:t>
            </a:r>
          </a:p>
        </p:txBody>
      </p:sp>
      <p:sp>
        <p:nvSpPr>
          <p:cNvPr id="8" name="TextBox 7"/>
          <p:cNvSpPr txBox="1"/>
          <p:nvPr/>
        </p:nvSpPr>
        <p:spPr>
          <a:xfrm>
            <a:off x="7013448" y="2898648"/>
            <a:ext cx="4519879" cy="2377440"/>
          </a:xfrm>
          <a:prstGeom prst="rect">
            <a:avLst/>
          </a:prstGeom>
          <a:noFill/>
        </p:spPr>
        <p:txBody>
          <a:bodyPr wrap="square" lIns="0" rIns="0" tIns="0" bIns="0">
            <a:spAutoFit/>
          </a:bodyPr>
          <a:lstStyle/>
          <a:p>
            <a:pPr>
              <a:lnSpc>
                <a:spcPct val="130000"/>
              </a:lnSpc>
              <a:spcAft>
                <a:spcPts val="700"/>
              </a:spcAft>
            </a:pPr>
            <a:r>
              <a:rPr sz="850" b="1">
                <a:solidFill>
                  <a:srgbClr val="8B2F9D"/>
                </a:solidFill>
                <a:latin typeface="Menlo"/>
              </a:rPr>
              <a:t>01   </a:t>
            </a:r>
            <a:r>
              <a:rPr sz="1050">
                <a:solidFill>
                  <a:srgbClr val="5D6F66"/>
                </a:solidFill>
                <a:latin typeface="Helvetica Neue"/>
              </a:rPr>
              <a:t>The vendor generates a key signed with a private key that never ships to a customer.</a:t>
            </a:r>
          </a:p>
          <a:p>
            <a:pPr>
              <a:lnSpc>
                <a:spcPct val="130000"/>
              </a:lnSpc>
              <a:spcAft>
                <a:spcPts val="700"/>
              </a:spcAft>
            </a:pPr>
            <a:r>
              <a:rPr sz="850" b="1">
                <a:solidFill>
                  <a:srgbClr val="8B2F9D"/>
                </a:solidFill>
                <a:latin typeface="Menlo"/>
              </a:rPr>
              <a:t>02   </a:t>
            </a:r>
            <a:r>
              <a:rPr sz="1050">
                <a:solidFill>
                  <a:srgbClr val="5D6F66"/>
                </a:solidFill>
                <a:latin typeface="Helvetica Neue"/>
              </a:rPr>
              <a:t>You paste it in; the signature is checked against a public key baked into the app — no internet required.</a:t>
            </a:r>
          </a:p>
          <a:p>
            <a:pPr>
              <a:lnSpc>
                <a:spcPct val="130000"/>
              </a:lnSpc>
              <a:spcAft>
                <a:spcPts val="700"/>
              </a:spcAft>
            </a:pPr>
            <a:r>
              <a:rPr sz="850" b="1">
                <a:solidFill>
                  <a:srgbClr val="8B2F9D"/>
                </a:solidFill>
                <a:latin typeface="Menlo"/>
              </a:rPr>
              <a:t>03   </a:t>
            </a:r>
            <a:r>
              <a:rPr sz="1050">
                <a:solidFill>
                  <a:srgbClr val="5D6F66"/>
                </a:solidFill>
                <a:latin typeface="Helvetica Neue"/>
              </a:rPr>
              <a:t>On success the licence binds to this machine's hardware fingerprint, stored one-way hashed.</a:t>
            </a:r>
          </a:p>
          <a:p>
            <a:pPr>
              <a:lnSpc>
                <a:spcPct val="130000"/>
              </a:lnSpc>
              <a:spcAft>
                <a:spcPts val="700"/>
              </a:spcAft>
            </a:pPr>
            <a:r>
              <a:rPr sz="850" b="1">
                <a:solidFill>
                  <a:srgbClr val="8B2F9D"/>
                </a:solidFill>
                <a:latin typeface="Menlo"/>
              </a:rPr>
              <a:t>04   </a:t>
            </a:r>
            <a:r>
              <a:rPr sz="1050">
                <a:solidFill>
                  <a:srgbClr val="5D6F66"/>
                </a:solidFill>
                <a:latin typeface="Helvetica Neue"/>
              </a:rPr>
              <a:t>Copying an activated installation's data to another machine fails closed.</a:t>
            </a:r>
          </a:p>
        </p:txBody>
      </p:sp>
      <p:sp>
        <p:nvSpPr>
          <p:cNvPr id="9" name="Rectangle 8"/>
          <p:cNvSpPr/>
          <p:nvPr/>
        </p:nvSpPr>
        <p:spPr>
          <a:xfrm>
            <a:off x="7013448" y="5394960"/>
            <a:ext cx="4519879" cy="786384"/>
          </a:xfrm>
          <a:prstGeom prst="rect">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13448" y="5394960"/>
            <a:ext cx="34925" cy="786384"/>
          </a:xfrm>
          <a:prstGeom prst="rect">
            <a:avLst/>
          </a:prstGeom>
          <a:solidFill>
            <a:srgbClr val="A25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9752" y="5477256"/>
            <a:ext cx="4245559" cy="640080"/>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A2534B"/>
                </a:solidFill>
                <a:latin typeface="Helvetica Neue"/>
              </a:rPr>
              <a:t>Two disclosures: activation reads the fingerprint from Linux or macOS only — a WINDOWS MACHINE CANNOT CURRENTLY BE ACTIVATED. And an offline design cannot detect one key activated on two fresh machines.</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how the product is protected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05.7  </a:t>
            </a:r>
            <a:r>
              <a:rPr sz="900">
                <a:solidFill>
                  <a:srgbClr val="7E8E86"/>
                </a:solidFill>
                <a:latin typeface="Menlo"/>
              </a:rPr>
              <a:t>LICENSING</a:t>
            </a:r>
            <a:r>
              <a:rPr sz="900">
                <a:solidFill>
                  <a:srgbClr val="7E8E86"/>
                </a:solidFill>
                <a:latin typeface="Menlo"/>
              </a:rPr>
              <a:t>   ·   PRO VS MASTER</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Two tiers, one build.</a:t>
            </a:r>
          </a:p>
        </p:txBody>
      </p:sp>
      <p:sp>
        <p:nvSpPr>
          <p:cNvPr id="5" name="Rounded Rectangle 4"/>
          <p:cNvSpPr/>
          <p:nvPr/>
        </p:nvSpPr>
        <p:spPr>
          <a:xfrm>
            <a:off x="658368" y="1572768"/>
            <a:ext cx="5364327"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5016855"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TIER — PRO</a:t>
            </a:r>
          </a:p>
          <a:p>
            <a:pPr>
              <a:lnSpc>
                <a:spcPct val="115000"/>
              </a:lnSpc>
              <a:spcBef>
                <a:spcPts val="500"/>
              </a:spcBef>
              <a:spcAft>
                <a:spcPts val="0"/>
              </a:spcAft>
            </a:pPr>
            <a:r>
              <a:rPr sz="1250" b="1">
                <a:solidFill>
                  <a:srgbClr val="14201B"/>
                </a:solidFill>
                <a:latin typeface="Helvetica Neue"/>
              </a:rPr>
              <a:t>A single-seller booth</a:t>
            </a:r>
          </a:p>
          <a:p>
            <a:pPr>
              <a:lnSpc>
                <a:spcPct val="132000"/>
              </a:lnSpc>
              <a:spcBef>
                <a:spcPts val="500"/>
              </a:spcBef>
              <a:spcAft>
                <a:spcPts val="0"/>
              </a:spcAft>
            </a:pPr>
            <a:r>
              <a:rPr sz="950" b="0">
                <a:solidFill>
                  <a:srgbClr val="5D6F66"/>
                </a:solidFill>
                <a:latin typeface="Helvetica Neue"/>
              </a:rPr>
              <a:t>Everything in the product except multiple active sellers. Exactly one active seller is permitted, representing the shop itself; a second is refused.  Full till · pre-orders · profit reports · Excel import/export · purchasing &amp; BOM.</a:t>
            </a:r>
          </a:p>
        </p:txBody>
      </p:sp>
      <p:sp>
        <p:nvSpPr>
          <p:cNvPr id="7" name="Rounded Rectangle 6"/>
          <p:cNvSpPr/>
          <p:nvPr/>
        </p:nvSpPr>
        <p:spPr>
          <a:xfrm>
            <a:off x="6168999" y="1572768"/>
            <a:ext cx="5364327"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2735" y="1719072"/>
            <a:ext cx="5016855"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TIER — MASTER</a:t>
            </a:r>
          </a:p>
          <a:p>
            <a:pPr>
              <a:lnSpc>
                <a:spcPct val="115000"/>
              </a:lnSpc>
              <a:spcBef>
                <a:spcPts val="500"/>
              </a:spcBef>
              <a:spcAft>
                <a:spcPts val="0"/>
              </a:spcAft>
            </a:pPr>
            <a:r>
              <a:rPr sz="1250" b="1">
                <a:solidFill>
                  <a:srgbClr val="14201B"/>
                </a:solidFill>
                <a:latin typeface="Helvetica Neue"/>
              </a:rPr>
              <a:t>A booth hosting other artists</a:t>
            </a:r>
          </a:p>
          <a:p>
            <a:pPr>
              <a:lnSpc>
                <a:spcPct val="132000"/>
              </a:lnSpc>
              <a:spcBef>
                <a:spcPts val="500"/>
              </a:spcBef>
              <a:spcAft>
                <a:spcPts val="0"/>
              </a:spcAft>
            </a:pPr>
            <a:r>
              <a:rPr sz="950" b="0">
                <a:solidFill>
                  <a:srgbClr val="5D6F66"/>
                </a:solidFill>
                <a:latin typeface="Helvetica Neue"/>
              </a:rPr>
              <a:t>No limit on sellers, plus the per-seller settlement machinery that makes a consignment booth work.  Unlimited sellers · per-seller recap and payouts · per-seller float · seller cost report · stock by seller.</a:t>
            </a:r>
          </a:p>
        </p:txBody>
      </p:sp>
      <p:sp>
        <p:nvSpPr>
          <p:cNvPr id="9" name="Rectangle 8"/>
          <p:cNvSpPr/>
          <p:nvPr/>
        </p:nvSpPr>
        <p:spPr>
          <a:xfrm>
            <a:off x="658368" y="3511296"/>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511296"/>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593592"/>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It is one setting, not two products. Switching changes what is permitted, not what is installed, and nothing recorded is lost either way. The limit is enforced on the server — including inside the Excel import, so a spreadsheet cannot be used as a free upgrade.</a:t>
            </a:r>
          </a:p>
        </p:txBody>
      </p:sp>
      <p:sp>
        <p:nvSpPr>
          <p:cNvPr id="12" name="TextBox 11"/>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pro vs master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06</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End-to-end
flow</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Four journeys traced from the first tap to the last database write — including, for the pre-order flow, exactly where stock moves and where it deliberately does not.</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06.1  </a:t>
            </a:r>
            <a:r>
              <a:rPr sz="900">
                <a:solidFill>
                  <a:srgbClr val="7E8E86"/>
                </a:solidFill>
                <a:latin typeface="Menlo"/>
              </a:rPr>
              <a:t>END-TO-END FLOW</a:t>
            </a:r>
            <a:r>
              <a:rPr sz="900">
                <a:solidFill>
                  <a:srgbClr val="7E8E86"/>
                </a:solidFill>
                <a:latin typeface="Menlo"/>
              </a:rPr>
              <a:t>   ·   EVENT DAY</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Open the till, sell, reconcile, close.</a:t>
            </a:r>
          </a:p>
        </p:txBody>
      </p:sp>
      <p:sp>
        <p:nvSpPr>
          <p:cNvPr id="5" name="Rectangle 4"/>
          <p:cNvSpPr/>
          <p:nvPr/>
        </p:nvSpPr>
        <p:spPr>
          <a:xfrm>
            <a:off x="658368" y="160934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42048" y="160934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69164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8" name="TextBox 7"/>
          <p:cNvSpPr txBox="1"/>
          <p:nvPr/>
        </p:nvSpPr>
        <p:spPr>
          <a:xfrm>
            <a:off x="1618488" y="168249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Signs in with a username and password</a:t>
            </a:r>
          </a:p>
        </p:txBody>
      </p:sp>
      <p:sp>
        <p:nvSpPr>
          <p:cNvPr id="9" name="TextBox 8"/>
          <p:cNvSpPr txBox="1"/>
          <p:nvPr/>
        </p:nvSpPr>
        <p:spPr>
          <a:xfrm>
            <a:off x="7351776" y="168249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Login time stamped, device token issued</a:t>
            </a:r>
          </a:p>
        </p:txBody>
      </p:sp>
      <p:sp>
        <p:nvSpPr>
          <p:cNvPr id="10" name="Rectangle 9"/>
          <p:cNvSpPr/>
          <p:nvPr/>
        </p:nvSpPr>
        <p:spPr>
          <a:xfrm>
            <a:off x="658368" y="199339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42048" y="199339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7568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13" name="TextBox 12"/>
          <p:cNvSpPr txBox="1"/>
          <p:nvPr/>
        </p:nvSpPr>
        <p:spPr>
          <a:xfrm>
            <a:off x="1618488" y="206654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Opens a shift: picks the event, counts the float, optionally splits it per seller</a:t>
            </a:r>
          </a:p>
        </p:txBody>
      </p:sp>
      <p:sp>
        <p:nvSpPr>
          <p:cNvPr id="14" name="TextBox 13"/>
          <p:cNvSpPr txBox="1"/>
          <p:nvPr/>
        </p:nvSpPr>
        <p:spPr>
          <a:xfrm>
            <a:off x="7351776" y="206654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Refused if a shift is open, or the event is not active</a:t>
            </a:r>
          </a:p>
        </p:txBody>
      </p:sp>
      <p:sp>
        <p:nvSpPr>
          <p:cNvPr id="15" name="Rectangle 14"/>
          <p:cNvSpPr/>
          <p:nvPr/>
        </p:nvSpPr>
        <p:spPr>
          <a:xfrm>
            <a:off x="658368" y="237744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42048" y="2377440"/>
            <a:ext cx="4291279" cy="374523"/>
          </a:xfrm>
          <a:prstGeom prst="rect">
            <a:avLst/>
          </a:prstGeom>
          <a:solidFill>
            <a:srgbClr val="E4F3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45973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18" name="TextBox 17"/>
          <p:cNvSpPr txBox="1"/>
          <p:nvPr/>
        </p:nvSpPr>
        <p:spPr>
          <a:xfrm>
            <a:off x="1618488" y="245059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Creates the session in one all-or-nothing transaction</a:t>
            </a:r>
          </a:p>
        </p:txBody>
      </p:sp>
      <p:sp>
        <p:nvSpPr>
          <p:cNvPr id="19" name="TextBox 18"/>
          <p:cNvSpPr txBox="1"/>
          <p:nvPr/>
        </p:nvSpPr>
        <p:spPr>
          <a:xfrm>
            <a:off x="7351776" y="245059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1E6B4B"/>
                </a:solidFill>
                <a:latin typeface="Helvetica Neue"/>
              </a:rPr>
              <a:t>Session row + per-seller float rows written together</a:t>
            </a:r>
          </a:p>
        </p:txBody>
      </p:sp>
      <p:sp>
        <p:nvSpPr>
          <p:cNvPr id="20" name="Rectangle 19"/>
          <p:cNvSpPr/>
          <p:nvPr/>
        </p:nvSpPr>
        <p:spPr>
          <a:xfrm>
            <a:off x="658368" y="276148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42048" y="276148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84378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23" name="TextBox 22"/>
          <p:cNvSpPr txBox="1"/>
          <p:nvPr/>
        </p:nvSpPr>
        <p:spPr>
          <a:xfrm>
            <a:off x="1618488" y="283464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Adds items from three different sellers and taps Pay</a:t>
            </a:r>
          </a:p>
        </p:txBody>
      </p:sp>
      <p:sp>
        <p:nvSpPr>
          <p:cNvPr id="24" name="TextBox 23"/>
          <p:cNvSpPr txBox="1"/>
          <p:nvPr/>
        </p:nvSpPr>
        <p:spPr>
          <a:xfrm>
            <a:off x="7351776" y="283464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Blocked entirely if no shift is open</a:t>
            </a:r>
          </a:p>
        </p:txBody>
      </p:sp>
      <p:sp>
        <p:nvSpPr>
          <p:cNvPr id="25" name="Rectangle 24"/>
          <p:cNvSpPr/>
          <p:nvPr/>
        </p:nvSpPr>
        <p:spPr>
          <a:xfrm>
            <a:off x="658368" y="3145536"/>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42048" y="3145536"/>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227832"/>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28" name="TextBox 27"/>
          <p:cNvSpPr txBox="1"/>
          <p:nvPr/>
        </p:nvSpPr>
        <p:spPr>
          <a:xfrm>
            <a:off x="1618488" y="3218688"/>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Takes Rp 50.000 cash, then the balance by QRIS with a photo of the proof</a:t>
            </a:r>
          </a:p>
        </p:txBody>
      </p:sp>
      <p:sp>
        <p:nvSpPr>
          <p:cNvPr id="29" name="TextBox 28"/>
          <p:cNvSpPr txBox="1"/>
          <p:nvPr/>
        </p:nvSpPr>
        <p:spPr>
          <a:xfrm>
            <a:off x="7351776" y="3218688"/>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Proof stored privately under a random filename</a:t>
            </a:r>
          </a:p>
        </p:txBody>
      </p:sp>
      <p:sp>
        <p:nvSpPr>
          <p:cNvPr id="30" name="Rectangle 29"/>
          <p:cNvSpPr/>
          <p:nvPr/>
        </p:nvSpPr>
        <p:spPr>
          <a:xfrm>
            <a:off x="658368" y="352958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42048" y="3529584"/>
            <a:ext cx="4291279" cy="374523"/>
          </a:xfrm>
          <a:prstGeom prst="rect">
            <a:avLst/>
          </a:prstGeom>
          <a:solidFill>
            <a:srgbClr val="FBED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1188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33" name="TextBox 32"/>
          <p:cNvSpPr txBox="1"/>
          <p:nvPr/>
        </p:nvSpPr>
        <p:spPr>
          <a:xfrm>
            <a:off x="1618488" y="360273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Checks the one-time reference before writing anything</a:t>
            </a:r>
          </a:p>
        </p:txBody>
      </p:sp>
      <p:sp>
        <p:nvSpPr>
          <p:cNvPr id="34" name="TextBox 33"/>
          <p:cNvSpPr txBox="1"/>
          <p:nvPr/>
        </p:nvSpPr>
        <p:spPr>
          <a:xfrm>
            <a:off x="7351776" y="360273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A2534B"/>
                </a:solidFill>
                <a:latin typeface="Helvetica Neue"/>
              </a:rPr>
              <a:t>A repeat tap returns the original sale — never charges twice</a:t>
            </a:r>
          </a:p>
        </p:txBody>
      </p:sp>
      <p:sp>
        <p:nvSpPr>
          <p:cNvPr id="35" name="Rectangle 34"/>
          <p:cNvSpPr/>
          <p:nvPr/>
        </p:nvSpPr>
        <p:spPr>
          <a:xfrm>
            <a:off x="658368" y="391363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42048" y="391363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399592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38" name="TextBox 37"/>
          <p:cNvSpPr txBox="1"/>
          <p:nvPr/>
        </p:nvSpPr>
        <p:spPr>
          <a:xfrm>
            <a:off x="1618488" y="398678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Prices the basket from master data, locking each variant row</a:t>
            </a:r>
          </a:p>
        </p:txBody>
      </p:sp>
      <p:sp>
        <p:nvSpPr>
          <p:cNvPr id="39" name="TextBox 38"/>
          <p:cNvSpPr txBox="1"/>
          <p:nvPr/>
        </p:nvSpPr>
        <p:spPr>
          <a:xfrm>
            <a:off x="7351776" y="398678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Client-supplied prices ignored entirely</a:t>
            </a:r>
          </a:p>
        </p:txBody>
      </p:sp>
      <p:sp>
        <p:nvSpPr>
          <p:cNvPr id="40" name="Rectangle 39"/>
          <p:cNvSpPr/>
          <p:nvPr/>
        </p:nvSpPr>
        <p:spPr>
          <a:xfrm>
            <a:off x="658368" y="429768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42048" y="4297680"/>
            <a:ext cx="4291279" cy="374523"/>
          </a:xfrm>
          <a:prstGeom prst="rect">
            <a:avLst/>
          </a:prstGeom>
          <a:solidFill>
            <a:srgbClr val="F3E8F6"/>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37997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43" name="TextBox 42"/>
          <p:cNvSpPr txBox="1"/>
          <p:nvPr/>
        </p:nvSpPr>
        <p:spPr>
          <a:xfrm>
            <a:off x="1618488" y="437083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Writes the order, its lines and its payments</a:t>
            </a:r>
          </a:p>
        </p:txBody>
      </p:sp>
      <p:sp>
        <p:nvSpPr>
          <p:cNvPr id="44" name="TextBox 43"/>
          <p:cNvSpPr txBox="1"/>
          <p:nvPr/>
        </p:nvSpPr>
        <p:spPr>
          <a:xfrm>
            <a:off x="7351776" y="437083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8B2F9D"/>
                </a:solidFill>
                <a:latin typeface="Helvetica Neue"/>
              </a:rPr>
              <a:t>Stock DECREASES — one 'sale' movement per line</a:t>
            </a:r>
          </a:p>
        </p:txBody>
      </p:sp>
      <p:sp>
        <p:nvSpPr>
          <p:cNvPr id="45" name="Rectangle 44"/>
          <p:cNvSpPr/>
          <p:nvPr/>
        </p:nvSpPr>
        <p:spPr>
          <a:xfrm>
            <a:off x="658368" y="468172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242048" y="468172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76402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48" name="TextBox 47"/>
          <p:cNvSpPr txBox="1"/>
          <p:nvPr/>
        </p:nvSpPr>
        <p:spPr>
          <a:xfrm>
            <a:off x="1618488" y="475488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Shows the on-screen receipt for the buyer to photograph</a:t>
            </a:r>
          </a:p>
        </p:txBody>
      </p:sp>
      <p:sp>
        <p:nvSpPr>
          <p:cNvPr id="49" name="TextBox 48"/>
          <p:cNvSpPr txBox="1"/>
          <p:nvPr/>
        </p:nvSpPr>
        <p:spPr>
          <a:xfrm>
            <a:off x="7351776" y="475488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Store identity, event name, location and dates included</a:t>
            </a:r>
          </a:p>
        </p:txBody>
      </p:sp>
      <p:sp>
        <p:nvSpPr>
          <p:cNvPr id="50" name="Rectangle 49"/>
          <p:cNvSpPr/>
          <p:nvPr/>
        </p:nvSpPr>
        <p:spPr>
          <a:xfrm>
            <a:off x="658368" y="5065776"/>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242048" y="5065776"/>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148072"/>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53" name="TextBox 52"/>
          <p:cNvSpPr txBox="1"/>
          <p:nvPr/>
        </p:nvSpPr>
        <p:spPr>
          <a:xfrm>
            <a:off x="1618488" y="5138928"/>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At close, counts the drawer and enters the figure</a:t>
            </a:r>
          </a:p>
        </p:txBody>
      </p:sp>
      <p:sp>
        <p:nvSpPr>
          <p:cNvPr id="54" name="TextBox 53"/>
          <p:cNvSpPr txBox="1"/>
          <p:nvPr/>
        </p:nvSpPr>
        <p:spPr>
          <a:xfrm>
            <a:off x="7351776" y="5138928"/>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A difference requires a written note</a:t>
            </a:r>
          </a:p>
        </p:txBody>
      </p:sp>
      <p:sp>
        <p:nvSpPr>
          <p:cNvPr id="55" name="Rectangle 54"/>
          <p:cNvSpPr/>
          <p:nvPr/>
        </p:nvSpPr>
        <p:spPr>
          <a:xfrm>
            <a:off x="658368" y="544982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242048" y="544982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8096" y="553212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58" name="TextBox 57"/>
          <p:cNvSpPr txBox="1"/>
          <p:nvPr/>
        </p:nvSpPr>
        <p:spPr>
          <a:xfrm>
            <a:off x="1618488" y="552297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Independently recomputes expected cash and the variance</a:t>
            </a:r>
          </a:p>
        </p:txBody>
      </p:sp>
      <p:sp>
        <p:nvSpPr>
          <p:cNvPr id="59" name="TextBox 58"/>
          <p:cNvSpPr txBox="1"/>
          <p:nvPr/>
        </p:nvSpPr>
        <p:spPr>
          <a:xfrm>
            <a:off x="7351776" y="552297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Session closed with opening, counted, expected and difference</a:t>
            </a:r>
          </a:p>
        </p:txBody>
      </p:sp>
      <p:sp>
        <p:nvSpPr>
          <p:cNvPr id="60" name="TextBox 59"/>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event day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06.2  </a:t>
            </a:r>
            <a:r>
              <a:rPr sz="900">
                <a:solidFill>
                  <a:srgbClr val="7E8E86"/>
                </a:solidFill>
                <a:latin typeface="Menlo"/>
              </a:rPr>
              <a:t>END-TO-END FLOW</a:t>
            </a:r>
            <a:r>
              <a:rPr sz="900">
                <a:solidFill>
                  <a:srgbClr val="7E8E86"/>
                </a:solidFill>
                <a:latin typeface="Menlo"/>
              </a:rPr>
              <a:t>   ·   PRE-ORDER ACROSS TWO EVENTS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Where stock moves — and where it must not.</a:t>
            </a:r>
          </a:p>
        </p:txBody>
      </p:sp>
      <p:sp>
        <p:nvSpPr>
          <p:cNvPr id="5" name="Rectangle 4"/>
          <p:cNvSpPr/>
          <p:nvPr/>
        </p:nvSpPr>
        <p:spPr>
          <a:xfrm>
            <a:off x="658368" y="160934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42048" y="160934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69164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8" name="TextBox 7"/>
          <p:cNvSpPr txBox="1"/>
          <p:nvPr/>
        </p:nvSpPr>
        <p:spPr>
          <a:xfrm>
            <a:off x="1618488" y="168249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Creates the pre-order: customer, items, expected date, pickup or courier</a:t>
            </a:r>
          </a:p>
        </p:txBody>
      </p:sp>
      <p:sp>
        <p:nvSpPr>
          <p:cNvPr id="9" name="TextBox 8"/>
          <p:cNvSpPr txBox="1"/>
          <p:nvPr/>
        </p:nvSpPr>
        <p:spPr>
          <a:xfrm>
            <a:off x="7351776" y="168249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NO stock movement — the goods do not exist yet</a:t>
            </a:r>
          </a:p>
        </p:txBody>
      </p:sp>
      <p:sp>
        <p:nvSpPr>
          <p:cNvPr id="10" name="Rectangle 9"/>
          <p:cNvSpPr/>
          <p:nvPr/>
        </p:nvSpPr>
        <p:spPr>
          <a:xfrm>
            <a:off x="658368" y="199339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42048" y="199339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7568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13" name="TextBox 12"/>
          <p:cNvSpPr txBox="1"/>
          <p:nvPr/>
        </p:nvSpPr>
        <p:spPr>
          <a:xfrm>
            <a:off x="1618488" y="206654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Writes the order and its lines, numbered PO-YYYYMMDD-0001</a:t>
            </a:r>
          </a:p>
        </p:txBody>
      </p:sp>
      <p:sp>
        <p:nvSpPr>
          <p:cNvPr id="14" name="TextBox 13"/>
          <p:cNvSpPr txBox="1"/>
          <p:nvPr/>
        </p:nvSpPr>
        <p:spPr>
          <a:xfrm>
            <a:off x="7351776" y="206654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Number unique across DEMO and LIVE alike</a:t>
            </a:r>
          </a:p>
        </p:txBody>
      </p:sp>
      <p:sp>
        <p:nvSpPr>
          <p:cNvPr id="15" name="Rectangle 14"/>
          <p:cNvSpPr/>
          <p:nvPr/>
        </p:nvSpPr>
        <p:spPr>
          <a:xfrm>
            <a:off x="658368" y="237744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42048" y="2377440"/>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45973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CUSTOMER</a:t>
            </a:r>
          </a:p>
        </p:txBody>
      </p:sp>
      <p:sp>
        <p:nvSpPr>
          <p:cNvPr id="18" name="TextBox 17"/>
          <p:cNvSpPr txBox="1"/>
          <p:nvPr/>
        </p:nvSpPr>
        <p:spPr>
          <a:xfrm>
            <a:off x="1618488" y="245059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Pays a deposit — itself splittable across methods</a:t>
            </a:r>
          </a:p>
        </p:txBody>
      </p:sp>
      <p:sp>
        <p:nvSpPr>
          <p:cNvPr id="19" name="TextBox 18"/>
          <p:cNvSpPr txBox="1"/>
          <p:nvPr/>
        </p:nvSpPr>
        <p:spPr>
          <a:xfrm>
            <a:off x="7351776" y="245059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Status moves to Deposit paid. Still no stock movement</a:t>
            </a:r>
          </a:p>
        </p:txBody>
      </p:sp>
      <p:sp>
        <p:nvSpPr>
          <p:cNvPr id="20" name="Rectangle 19"/>
          <p:cNvSpPr/>
          <p:nvPr/>
        </p:nvSpPr>
        <p:spPr>
          <a:xfrm>
            <a:off x="658368" y="276148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42048" y="2761488"/>
            <a:ext cx="4291279" cy="374523"/>
          </a:xfrm>
          <a:prstGeom prst="rect">
            <a:avLst/>
          </a:prstGeom>
          <a:solidFill>
            <a:srgbClr val="E4F3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84378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23" name="TextBox 22"/>
          <p:cNvSpPr txBox="1"/>
          <p:nvPr/>
        </p:nvSpPr>
        <p:spPr>
          <a:xfrm>
            <a:off x="1618488" y="283464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Weeks later the goods arrive; marks the order Arrived</a:t>
            </a:r>
          </a:p>
        </p:txBody>
      </p:sp>
      <p:sp>
        <p:nvSpPr>
          <p:cNvPr id="24" name="TextBox 23"/>
          <p:cNvSpPr txBox="1"/>
          <p:nvPr/>
        </p:nvSpPr>
        <p:spPr>
          <a:xfrm>
            <a:off x="7351776" y="283464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1E6B4B"/>
                </a:solidFill>
                <a:latin typeface="Helvetica Neue"/>
              </a:rPr>
              <a:t>Stock INCREASES — a 'purchase' movement per line</a:t>
            </a:r>
          </a:p>
        </p:txBody>
      </p:sp>
      <p:sp>
        <p:nvSpPr>
          <p:cNvPr id="25" name="Rectangle 24"/>
          <p:cNvSpPr/>
          <p:nvPr/>
        </p:nvSpPr>
        <p:spPr>
          <a:xfrm>
            <a:off x="658368" y="3145536"/>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42048" y="3145536"/>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227832"/>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28" name="TextBox 27"/>
          <p:cNvSpPr txBox="1"/>
          <p:nvPr/>
        </p:nvSpPr>
        <p:spPr>
          <a:xfrm>
            <a:off x="1618488" y="3218688"/>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Emails the customer that the goods have landed</a:t>
            </a:r>
          </a:p>
        </p:txBody>
      </p:sp>
      <p:sp>
        <p:nvSpPr>
          <p:cNvPr id="29" name="TextBox 28"/>
          <p:cNvSpPr txBox="1"/>
          <p:nvPr/>
        </p:nvSpPr>
        <p:spPr>
          <a:xfrm>
            <a:off x="7351776" y="3218688"/>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Every send attempt logged — sent, failed or skipped</a:t>
            </a:r>
          </a:p>
        </p:txBody>
      </p:sp>
      <p:sp>
        <p:nvSpPr>
          <p:cNvPr id="30" name="Rectangle 29"/>
          <p:cNvSpPr/>
          <p:nvPr/>
        </p:nvSpPr>
        <p:spPr>
          <a:xfrm>
            <a:off x="658368" y="352958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42048" y="352958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1188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CUSTOMER</a:t>
            </a:r>
          </a:p>
        </p:txBody>
      </p:sp>
      <p:sp>
        <p:nvSpPr>
          <p:cNvPr id="33" name="TextBox 32"/>
          <p:cNvSpPr txBox="1"/>
          <p:nvPr/>
        </p:nvSpPr>
        <p:spPr>
          <a:xfrm>
            <a:off x="1618488" y="360273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At the next event, pays the outstanding balance</a:t>
            </a:r>
          </a:p>
        </p:txBody>
      </p:sp>
      <p:sp>
        <p:nvSpPr>
          <p:cNvPr id="34" name="TextBox 33"/>
          <p:cNvSpPr txBox="1"/>
          <p:nvPr/>
        </p:nvSpPr>
        <p:spPr>
          <a:xfrm>
            <a:off x="7351776" y="360273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Status re-derives to Settled once fully paid</a:t>
            </a:r>
          </a:p>
        </p:txBody>
      </p:sp>
      <p:sp>
        <p:nvSpPr>
          <p:cNvPr id="35" name="Rectangle 34"/>
          <p:cNvSpPr/>
          <p:nvPr/>
        </p:nvSpPr>
        <p:spPr>
          <a:xfrm>
            <a:off x="658368" y="391363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42048" y="3913632"/>
            <a:ext cx="4291279" cy="374523"/>
          </a:xfrm>
          <a:prstGeom prst="rect">
            <a:avLst/>
          </a:prstGeom>
          <a:solidFill>
            <a:srgbClr val="FBED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399592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38" name="TextBox 37"/>
          <p:cNvSpPr txBox="1"/>
          <p:nvPr/>
        </p:nvSpPr>
        <p:spPr>
          <a:xfrm>
            <a:off x="1618488" y="398678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Handover requested</a:t>
            </a:r>
          </a:p>
        </p:txBody>
      </p:sp>
      <p:sp>
        <p:nvSpPr>
          <p:cNvPr id="39" name="TextBox 38"/>
          <p:cNvSpPr txBox="1"/>
          <p:nvPr/>
        </p:nvSpPr>
        <p:spPr>
          <a:xfrm>
            <a:off x="7351776" y="398678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A2534B"/>
                </a:solidFill>
                <a:latin typeface="Helvetica Neue"/>
              </a:rPr>
              <a:t>REFUSED if any balance remains, or the item has sold out</a:t>
            </a:r>
          </a:p>
        </p:txBody>
      </p:sp>
      <p:sp>
        <p:nvSpPr>
          <p:cNvPr id="40" name="Rectangle 39"/>
          <p:cNvSpPr/>
          <p:nvPr/>
        </p:nvSpPr>
        <p:spPr>
          <a:xfrm>
            <a:off x="658368" y="429768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42048" y="4297680"/>
            <a:ext cx="4291279" cy="374523"/>
          </a:xfrm>
          <a:prstGeom prst="rect">
            <a:avLst/>
          </a:prstGeom>
          <a:solidFill>
            <a:srgbClr val="F3E8F6"/>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37997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43" name="TextBox 42"/>
          <p:cNvSpPr txBox="1"/>
          <p:nvPr/>
        </p:nvSpPr>
        <p:spPr>
          <a:xfrm>
            <a:off x="1618488" y="437083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Hands the goods over</a:t>
            </a:r>
          </a:p>
        </p:txBody>
      </p:sp>
      <p:sp>
        <p:nvSpPr>
          <p:cNvPr id="44" name="TextBox 43"/>
          <p:cNvSpPr txBox="1"/>
          <p:nvPr/>
        </p:nvSpPr>
        <p:spPr>
          <a:xfrm>
            <a:off x="7351776" y="437083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8B2F9D"/>
                </a:solidFill>
                <a:latin typeface="Helvetica Neue"/>
              </a:rPr>
              <a:t>Stock DECREASES — a 'preorder_handover' movement per line</a:t>
            </a:r>
          </a:p>
        </p:txBody>
      </p:sp>
      <p:sp>
        <p:nvSpPr>
          <p:cNvPr id="45" name="Rectangle 44"/>
          <p:cNvSpPr/>
          <p:nvPr/>
        </p:nvSpPr>
        <p:spPr>
          <a:xfrm>
            <a:off x="658368" y="468172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242048" y="468172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76402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CASHIER</a:t>
            </a:r>
          </a:p>
        </p:txBody>
      </p:sp>
      <p:sp>
        <p:nvSpPr>
          <p:cNvPr id="48" name="TextBox 47"/>
          <p:cNvSpPr txBox="1"/>
          <p:nvPr/>
        </p:nvSpPr>
        <p:spPr>
          <a:xfrm>
            <a:off x="1618488" y="475488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If shipping instead, records courier, tracking and address</a:t>
            </a:r>
          </a:p>
        </p:txBody>
      </p:sp>
      <p:sp>
        <p:nvSpPr>
          <p:cNvPr id="49" name="TextBox 48"/>
          <p:cNvSpPr txBox="1"/>
          <p:nvPr/>
        </p:nvSpPr>
        <p:spPr>
          <a:xfrm>
            <a:off x="7351776" y="475488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Shipment moves Pending → Packed → Shipped → Delivered</a:t>
            </a:r>
          </a:p>
        </p:txBody>
      </p:sp>
      <p:sp>
        <p:nvSpPr>
          <p:cNvPr id="50" name="Rectangle 49"/>
          <p:cNvSpPr/>
          <p:nvPr/>
        </p:nvSpPr>
        <p:spPr>
          <a:xfrm>
            <a:off x="658368" y="5138928"/>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8368" y="5138928"/>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221224"/>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Net effect across the whole life of a pre-order: zero. One positive movement on arrival, one negative on handover — so pre-ordered goods pass through your stock ledger honestly.</a:t>
            </a:r>
          </a:p>
        </p:txBody>
      </p:sp>
      <p:sp>
        <p:nvSpPr>
          <p:cNvPr id="53" name="TextBox 52"/>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pre-order across two events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06.3  </a:t>
            </a:r>
            <a:r>
              <a:rPr sz="900">
                <a:solidFill>
                  <a:srgbClr val="7E8E86"/>
                </a:solidFill>
                <a:latin typeface="Menlo"/>
              </a:rPr>
              <a:t>END-TO-END FLOW</a:t>
            </a:r>
            <a:r>
              <a:rPr sz="900">
                <a:solidFill>
                  <a:srgbClr val="7E8E86"/>
                </a:solidFill>
                <a:latin typeface="Menlo"/>
              </a:rPr>
              <a:t>   ·   SETTLING WITH THE SELLERS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From raw sale lines to a figure you can hand over.</a:t>
            </a:r>
          </a:p>
        </p:txBody>
      </p:sp>
      <p:sp>
        <p:nvSpPr>
          <p:cNvPr id="5" name="Rectangle 4"/>
          <p:cNvSpPr/>
          <p:nvPr/>
        </p:nvSpPr>
        <p:spPr>
          <a:xfrm>
            <a:off x="658368" y="160934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42048" y="1609344"/>
            <a:ext cx="4291279" cy="374523"/>
          </a:xfrm>
          <a:prstGeom prst="rect">
            <a:avLst/>
          </a:prstGeom>
          <a:solidFill>
            <a:srgbClr val="FBED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69164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8" name="TextBox 7"/>
          <p:cNvSpPr txBox="1"/>
          <p:nvPr/>
        </p:nvSpPr>
        <p:spPr>
          <a:xfrm>
            <a:off x="1618488" y="168249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Owner opens the Seller Recap for the finished event</a:t>
            </a:r>
          </a:p>
        </p:txBody>
      </p:sp>
      <p:sp>
        <p:nvSpPr>
          <p:cNvPr id="9" name="TextBox 8"/>
          <p:cNvSpPr txBox="1"/>
          <p:nvPr/>
        </p:nvSpPr>
        <p:spPr>
          <a:xfrm>
            <a:off x="7351776" y="168249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A2534B"/>
                </a:solidFill>
                <a:latin typeface="Helvetica Neue"/>
              </a:rPr>
              <a:t>Refused (403) to anyone without report access</a:t>
            </a:r>
          </a:p>
        </p:txBody>
      </p:sp>
      <p:sp>
        <p:nvSpPr>
          <p:cNvPr id="10" name="Rectangle 9"/>
          <p:cNvSpPr/>
          <p:nvPr/>
        </p:nvSpPr>
        <p:spPr>
          <a:xfrm>
            <a:off x="658368" y="199339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42048" y="199339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7568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13" name="TextBox 12"/>
          <p:cNvSpPr txBox="1"/>
          <p:nvPr/>
        </p:nvSpPr>
        <p:spPr>
          <a:xfrm>
            <a:off x="1618488" y="206654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Zeroes the existing settlement rows before re-aggregating</a:t>
            </a:r>
          </a:p>
        </p:txBody>
      </p:sp>
      <p:sp>
        <p:nvSpPr>
          <p:cNvPr id="14" name="TextBox 13"/>
          <p:cNvSpPr txBox="1"/>
          <p:nvPr/>
        </p:nvSpPr>
        <p:spPr>
          <a:xfrm>
            <a:off x="7351776" y="206654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A seller whose only order was voided cannot keep a stale figure</a:t>
            </a:r>
          </a:p>
        </p:txBody>
      </p:sp>
      <p:sp>
        <p:nvSpPr>
          <p:cNvPr id="15" name="Rectangle 14"/>
          <p:cNvSpPr/>
          <p:nvPr/>
        </p:nvSpPr>
        <p:spPr>
          <a:xfrm>
            <a:off x="658368" y="237744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42048" y="2377440"/>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45973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18" name="TextBox 17"/>
          <p:cNvSpPr txBox="1"/>
          <p:nvPr/>
        </p:nvSpPr>
        <p:spPr>
          <a:xfrm>
            <a:off x="1618488" y="245059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Sums counter sales per seller from the frozen order lines</a:t>
            </a:r>
          </a:p>
        </p:txBody>
      </p:sp>
      <p:sp>
        <p:nvSpPr>
          <p:cNvPr id="19" name="TextBox 18"/>
          <p:cNvSpPr txBox="1"/>
          <p:nvPr/>
        </p:nvSpPr>
        <p:spPr>
          <a:xfrm>
            <a:off x="7351776" y="245059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Uses the price and cost as they were at the moment of sale</a:t>
            </a:r>
          </a:p>
        </p:txBody>
      </p:sp>
      <p:sp>
        <p:nvSpPr>
          <p:cNvPr id="20" name="Rectangle 19"/>
          <p:cNvSpPr/>
          <p:nvPr/>
        </p:nvSpPr>
        <p:spPr>
          <a:xfrm>
            <a:off x="658368" y="276148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42048" y="276148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84378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23" name="TextBox 22"/>
          <p:cNvSpPr txBox="1"/>
          <p:nvPr/>
        </p:nvSpPr>
        <p:spPr>
          <a:xfrm>
            <a:off x="1618488" y="283464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Adds pre-order money — but only cash actually collected</a:t>
            </a:r>
          </a:p>
        </p:txBody>
      </p:sp>
      <p:sp>
        <p:nvSpPr>
          <p:cNvPr id="24" name="TextBox 23"/>
          <p:cNvSpPr txBox="1"/>
          <p:nvPr/>
        </p:nvSpPr>
        <p:spPr>
          <a:xfrm>
            <a:off x="7351776" y="283464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Read from real payment rows, never the cached paid-amount</a:t>
            </a:r>
          </a:p>
        </p:txBody>
      </p:sp>
      <p:sp>
        <p:nvSpPr>
          <p:cNvPr id="25" name="Rectangle 24"/>
          <p:cNvSpPr/>
          <p:nvPr/>
        </p:nvSpPr>
        <p:spPr>
          <a:xfrm>
            <a:off x="658368" y="3145536"/>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42048" y="3145536"/>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227832"/>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28" name="TextBox 27"/>
          <p:cNvSpPr txBox="1"/>
          <p:nvPr/>
        </p:nvSpPr>
        <p:spPr>
          <a:xfrm>
            <a:off x="1618488" y="3218688"/>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Prorates that cash across the pre-order's lines by value share</a:t>
            </a:r>
          </a:p>
        </p:txBody>
      </p:sp>
      <p:sp>
        <p:nvSpPr>
          <p:cNvPr id="29" name="TextBox 28"/>
          <p:cNvSpPr txBox="1"/>
          <p:nvPr/>
        </p:nvSpPr>
        <p:spPr>
          <a:xfrm>
            <a:off x="7351776" y="3218688"/>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A half-paid order credits each seller exactly half</a:t>
            </a:r>
          </a:p>
        </p:txBody>
      </p:sp>
      <p:sp>
        <p:nvSpPr>
          <p:cNvPr id="30" name="Rectangle 29"/>
          <p:cNvSpPr/>
          <p:nvPr/>
        </p:nvSpPr>
        <p:spPr>
          <a:xfrm>
            <a:off x="658368" y="352958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42048" y="352958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1188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33" name="TextBox 32"/>
          <p:cNvSpPr txBox="1"/>
          <p:nvPr/>
        </p:nvSpPr>
        <p:spPr>
          <a:xfrm>
            <a:off x="1618488" y="360273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Produces one payable figure per seller</a:t>
            </a:r>
          </a:p>
        </p:txBody>
      </p:sp>
      <p:sp>
        <p:nvSpPr>
          <p:cNvPr id="34" name="TextBox 33"/>
          <p:cNvSpPr txBox="1"/>
          <p:nvPr/>
        </p:nvSpPr>
        <p:spPr>
          <a:xfrm>
            <a:off x="7351776" y="360273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Every active seller listed, including those who sold nothing</a:t>
            </a:r>
          </a:p>
        </p:txBody>
      </p:sp>
      <p:sp>
        <p:nvSpPr>
          <p:cNvPr id="35" name="Rectangle 34"/>
          <p:cNvSpPr/>
          <p:nvPr/>
        </p:nvSpPr>
        <p:spPr>
          <a:xfrm>
            <a:off x="658368" y="391363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42048" y="391363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399592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38" name="TextBox 37"/>
          <p:cNvSpPr txBox="1"/>
          <p:nvPr/>
        </p:nvSpPr>
        <p:spPr>
          <a:xfrm>
            <a:off x="1618488" y="398678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Clicks a seller to see the transactions behind the total</a:t>
            </a:r>
          </a:p>
        </p:txBody>
      </p:sp>
      <p:sp>
        <p:nvSpPr>
          <p:cNvPr id="39" name="TextBox 38"/>
          <p:cNvSpPr txBox="1"/>
          <p:nvPr/>
        </p:nvSpPr>
        <p:spPr>
          <a:xfrm>
            <a:off x="7351776" y="398678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Counter sales and pre-orders, itemised</a:t>
            </a:r>
          </a:p>
        </p:txBody>
      </p:sp>
      <p:sp>
        <p:nvSpPr>
          <p:cNvPr id="40" name="Rectangle 39"/>
          <p:cNvSpPr/>
          <p:nvPr/>
        </p:nvSpPr>
        <p:spPr>
          <a:xfrm>
            <a:off x="658368" y="429768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42048" y="4297680"/>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37997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43" name="TextBox 42"/>
          <p:cNvSpPr txBox="1"/>
          <p:nvPr/>
        </p:nvSpPr>
        <p:spPr>
          <a:xfrm>
            <a:off x="1618488" y="437083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Hands over the money and records the payout</a:t>
            </a:r>
          </a:p>
        </p:txBody>
      </p:sp>
      <p:sp>
        <p:nvSpPr>
          <p:cNvPr id="44" name="TextBox 43"/>
          <p:cNvSpPr txBox="1"/>
          <p:nvPr/>
        </p:nvSpPr>
        <p:spPr>
          <a:xfrm>
            <a:off x="7351776" y="437083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Status re-derives to Partial or Paid; export sends their copy</a:t>
            </a:r>
          </a:p>
        </p:txBody>
      </p:sp>
      <p:sp>
        <p:nvSpPr>
          <p:cNvPr id="45" name="TextBox 44"/>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settling with the sellers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06.4  </a:t>
            </a:r>
            <a:r>
              <a:rPr sz="900">
                <a:solidFill>
                  <a:srgbClr val="7E8E86"/>
                </a:solidFill>
                <a:latin typeface="Menlo"/>
              </a:rPr>
              <a:t>END-TO-END FLOW</a:t>
            </a:r>
            <a:r>
              <a:rPr sz="900">
                <a:solidFill>
                  <a:srgbClr val="7E8E86"/>
                </a:solidFill>
                <a:latin typeface="Menlo"/>
              </a:rPr>
              <a:t>   ·   FIRST RUN ON A NEW MACHINE</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From a locked screen to ready to trade.</a:t>
            </a:r>
          </a:p>
        </p:txBody>
      </p:sp>
      <p:sp>
        <p:nvSpPr>
          <p:cNvPr id="5" name="Rectangle 4"/>
          <p:cNvSpPr/>
          <p:nvPr/>
        </p:nvSpPr>
        <p:spPr>
          <a:xfrm>
            <a:off x="658368" y="160934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42048" y="1609344"/>
            <a:ext cx="4291279" cy="374523"/>
          </a:xfrm>
          <a:prstGeom prst="rect">
            <a:avLst/>
          </a:prstGeom>
          <a:solidFill>
            <a:srgbClr val="FBED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69164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8" name="TextBox 7"/>
          <p:cNvSpPr txBox="1"/>
          <p:nvPr/>
        </p:nvSpPr>
        <p:spPr>
          <a:xfrm>
            <a:off x="1618488" y="168249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Opens the app; every route bounces to activation</a:t>
            </a:r>
          </a:p>
        </p:txBody>
      </p:sp>
      <p:sp>
        <p:nvSpPr>
          <p:cNvPr id="9" name="TextBox 8"/>
          <p:cNvSpPr txBox="1"/>
          <p:nvPr/>
        </p:nvSpPr>
        <p:spPr>
          <a:xfrm>
            <a:off x="7351776" y="168249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A2534B"/>
                </a:solidFill>
                <a:latin typeface="Helvetica Neue"/>
              </a:rPr>
              <a:t>Server returns 423 Locked on every endpoint, login included</a:t>
            </a:r>
          </a:p>
        </p:txBody>
      </p:sp>
      <p:sp>
        <p:nvSpPr>
          <p:cNvPr id="10" name="Rectangle 9"/>
          <p:cNvSpPr/>
          <p:nvPr/>
        </p:nvSpPr>
        <p:spPr>
          <a:xfrm>
            <a:off x="658368" y="199339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42048" y="199339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7568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13" name="TextBox 12"/>
          <p:cNvSpPr txBox="1"/>
          <p:nvPr/>
        </p:nvSpPr>
        <p:spPr>
          <a:xfrm>
            <a:off x="1618488" y="206654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Pastes the vendor-issued licence key</a:t>
            </a:r>
          </a:p>
        </p:txBody>
      </p:sp>
      <p:sp>
        <p:nvSpPr>
          <p:cNvPr id="14" name="TextBox 13"/>
          <p:cNvSpPr txBox="1"/>
          <p:nvPr/>
        </p:nvSpPr>
        <p:spPr>
          <a:xfrm>
            <a:off x="7351776" y="206654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Signature verified offline; bound to this machine's fingerprint</a:t>
            </a:r>
          </a:p>
        </p:txBody>
      </p:sp>
      <p:sp>
        <p:nvSpPr>
          <p:cNvPr id="15" name="Rectangle 14"/>
          <p:cNvSpPr/>
          <p:nvPr/>
        </p:nvSpPr>
        <p:spPr>
          <a:xfrm>
            <a:off x="658368" y="237744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42048" y="2377440"/>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45973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18" name="TextBox 17"/>
          <p:cNvSpPr txBox="1"/>
          <p:nvPr/>
        </p:nvSpPr>
        <p:spPr>
          <a:xfrm>
            <a:off x="1618488" y="245059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Signs in and fills in the store profile and logo</a:t>
            </a:r>
          </a:p>
        </p:txBody>
      </p:sp>
      <p:sp>
        <p:nvSpPr>
          <p:cNvPr id="19" name="TextBox 18"/>
          <p:cNvSpPr txBox="1"/>
          <p:nvPr/>
        </p:nvSpPr>
        <p:spPr>
          <a:xfrm>
            <a:off x="7351776" y="245059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Each setting change written to the activity log</a:t>
            </a:r>
          </a:p>
        </p:txBody>
      </p:sp>
      <p:sp>
        <p:nvSpPr>
          <p:cNvPr id="20" name="Rectangle 19"/>
          <p:cNvSpPr/>
          <p:nvPr/>
        </p:nvSpPr>
        <p:spPr>
          <a:xfrm>
            <a:off x="658368" y="276148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42048" y="276148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84378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23" name="TextBox 22"/>
          <p:cNvSpPr txBox="1"/>
          <p:nvPr/>
        </p:nvSpPr>
        <p:spPr>
          <a:xfrm>
            <a:off x="1618488" y="283464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Chooses the edition (Pro or Master) and mode (DEMO or LIVE)</a:t>
            </a:r>
          </a:p>
        </p:txBody>
      </p:sp>
      <p:sp>
        <p:nvSpPr>
          <p:cNvPr id="24" name="TextBox 23"/>
          <p:cNvSpPr txBox="1"/>
          <p:nvPr/>
        </p:nvSpPr>
        <p:spPr>
          <a:xfrm>
            <a:off x="7351776" y="283464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Two settings rows; every later record stamped with the mode</a:t>
            </a:r>
          </a:p>
        </p:txBody>
      </p:sp>
      <p:sp>
        <p:nvSpPr>
          <p:cNvPr id="25" name="Rectangle 24"/>
          <p:cNvSpPr/>
          <p:nvPr/>
        </p:nvSpPr>
        <p:spPr>
          <a:xfrm>
            <a:off x="658368" y="3145536"/>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42048" y="3145536"/>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227832"/>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28" name="TextBox 27"/>
          <p:cNvSpPr txBox="1"/>
          <p:nvPr/>
        </p:nvSpPr>
        <p:spPr>
          <a:xfrm>
            <a:off x="1618488" y="3218688"/>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Creates roles and staff accounts</a:t>
            </a:r>
          </a:p>
        </p:txBody>
      </p:sp>
      <p:sp>
        <p:nvSpPr>
          <p:cNvPr id="29" name="TextBox 28"/>
          <p:cNvSpPr txBox="1"/>
          <p:nvPr/>
        </p:nvSpPr>
        <p:spPr>
          <a:xfrm>
            <a:off x="7351776" y="3218688"/>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Passwords hashed; menu access assigned per role</a:t>
            </a:r>
          </a:p>
        </p:txBody>
      </p:sp>
      <p:sp>
        <p:nvSpPr>
          <p:cNvPr id="30" name="Rectangle 29"/>
          <p:cNvSpPr/>
          <p:nvPr/>
        </p:nvSpPr>
        <p:spPr>
          <a:xfrm>
            <a:off x="658368" y="3529584"/>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42048" y="3529584"/>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11880"/>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33" name="TextBox 32"/>
          <p:cNvSpPr txBox="1"/>
          <p:nvPr/>
        </p:nvSpPr>
        <p:spPr>
          <a:xfrm>
            <a:off x="1618488" y="3602736"/>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Downloads the master-data template and fills in the sheets</a:t>
            </a:r>
          </a:p>
        </p:txBody>
      </p:sp>
      <p:sp>
        <p:nvSpPr>
          <p:cNvPr id="34" name="TextBox 33"/>
          <p:cNvSpPr txBox="1"/>
          <p:nvPr/>
        </p:nvSpPr>
        <p:spPr>
          <a:xfrm>
            <a:off x="7351776" y="3602736"/>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Ten sheets in dependency order, with a worked example</a:t>
            </a:r>
          </a:p>
        </p:txBody>
      </p:sp>
      <p:sp>
        <p:nvSpPr>
          <p:cNvPr id="35" name="Rectangle 34"/>
          <p:cNvSpPr/>
          <p:nvPr/>
        </p:nvSpPr>
        <p:spPr>
          <a:xfrm>
            <a:off x="658368" y="3913632"/>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42048" y="3913632"/>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3995928"/>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38" name="TextBox 37"/>
          <p:cNvSpPr txBox="1"/>
          <p:nvPr/>
        </p:nvSpPr>
        <p:spPr>
          <a:xfrm>
            <a:off x="1618488" y="3986784"/>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Uploads with preview ticked</a:t>
            </a:r>
          </a:p>
        </p:txBody>
      </p:sp>
      <p:sp>
        <p:nvSpPr>
          <p:cNvPr id="39" name="TextBox 38"/>
          <p:cNvSpPr txBox="1"/>
          <p:nvPr/>
        </p:nvSpPr>
        <p:spPr>
          <a:xfrm>
            <a:off x="7351776" y="3986784"/>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Dry run reports every problem row, changing nothing</a:t>
            </a:r>
          </a:p>
        </p:txBody>
      </p:sp>
      <p:sp>
        <p:nvSpPr>
          <p:cNvPr id="40" name="Rectangle 39"/>
          <p:cNvSpPr/>
          <p:nvPr/>
        </p:nvSpPr>
        <p:spPr>
          <a:xfrm>
            <a:off x="658368" y="4297680"/>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42048" y="4297680"/>
            <a:ext cx="4291279" cy="374523"/>
          </a:xfrm>
          <a:prstGeom prst="rect">
            <a:avLst/>
          </a:prstGeom>
          <a:solidFill>
            <a:srgbClr val="E4F3EC"/>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379976"/>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SYSTEM</a:t>
            </a:r>
          </a:p>
        </p:txBody>
      </p:sp>
      <p:sp>
        <p:nvSpPr>
          <p:cNvPr id="43" name="TextBox 42"/>
          <p:cNvSpPr txBox="1"/>
          <p:nvPr/>
        </p:nvSpPr>
        <p:spPr>
          <a:xfrm>
            <a:off x="1618488" y="4370832"/>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Real import runs in one transaction</a:t>
            </a:r>
          </a:p>
        </p:txBody>
      </p:sp>
      <p:sp>
        <p:nvSpPr>
          <p:cNvPr id="44" name="TextBox 43"/>
          <p:cNvSpPr txBox="1"/>
          <p:nvPr/>
        </p:nvSpPr>
        <p:spPr>
          <a:xfrm>
            <a:off x="7351776" y="4370832"/>
            <a:ext cx="4016959" cy="274320"/>
          </a:xfrm>
          <a:prstGeom prst="rect">
            <a:avLst/>
          </a:prstGeom>
          <a:noFill/>
        </p:spPr>
        <p:txBody>
          <a:bodyPr wrap="square" lIns="0" rIns="0" tIns="0" bIns="0">
            <a:spAutoFit/>
          </a:bodyPr>
          <a:lstStyle/>
          <a:p>
            <a:pPr>
              <a:lnSpc>
                <a:spcPct val="122000"/>
              </a:lnSpc>
              <a:spcBef>
                <a:spcPts val="0"/>
              </a:spcBef>
              <a:spcAft>
                <a:spcPts val="0"/>
              </a:spcAft>
            </a:pPr>
            <a:r>
              <a:rPr sz="900" b="1">
                <a:solidFill>
                  <a:srgbClr val="1E6B4B"/>
                </a:solidFill>
                <a:latin typeface="Helvetica Neue"/>
              </a:rPr>
              <a:t>SKUs generated server-side; opening stock written as movements</a:t>
            </a:r>
          </a:p>
        </p:txBody>
      </p:sp>
      <p:sp>
        <p:nvSpPr>
          <p:cNvPr id="45" name="Rectangle 44"/>
          <p:cNvSpPr/>
          <p:nvPr/>
        </p:nvSpPr>
        <p:spPr>
          <a:xfrm>
            <a:off x="658368" y="4681728"/>
            <a:ext cx="1087495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242048" y="4681728"/>
            <a:ext cx="4291279" cy="374523"/>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764024"/>
            <a:ext cx="777240" cy="256032"/>
          </a:xfrm>
          <a:prstGeom prst="rect">
            <a:avLst/>
          </a:prstGeom>
          <a:noFill/>
        </p:spPr>
        <p:txBody>
          <a:bodyPr wrap="square" lIns="0" rIns="0" tIns="0" bIns="0">
            <a:spAutoFit/>
          </a:bodyPr>
          <a:lstStyle/>
          <a:p>
            <a:pPr>
              <a:spcBef>
                <a:spcPts val="0"/>
              </a:spcBef>
              <a:spcAft>
                <a:spcPts val="0"/>
              </a:spcAft>
            </a:pPr>
            <a:r>
              <a:rPr sz="750" b="1">
                <a:solidFill>
                  <a:srgbClr val="7E8E86"/>
                </a:solidFill>
                <a:latin typeface="Menlo"/>
              </a:rPr>
              <a:t>OWNER</a:t>
            </a:r>
          </a:p>
        </p:txBody>
      </p:sp>
      <p:sp>
        <p:nvSpPr>
          <p:cNvPr id="48" name="TextBox 47"/>
          <p:cNvSpPr txBox="1"/>
          <p:nvPr/>
        </p:nvSpPr>
        <p:spPr>
          <a:xfrm>
            <a:off x="1618488" y="4754880"/>
            <a:ext cx="5532120" cy="274320"/>
          </a:xfrm>
          <a:prstGeom prst="rect">
            <a:avLst/>
          </a:prstGeom>
          <a:noFill/>
        </p:spPr>
        <p:txBody>
          <a:bodyPr wrap="square" lIns="0" rIns="0" tIns="0" bIns="0">
            <a:spAutoFit/>
          </a:bodyPr>
          <a:lstStyle/>
          <a:p>
            <a:pPr>
              <a:lnSpc>
                <a:spcPct val="122000"/>
              </a:lnSpc>
              <a:spcBef>
                <a:spcPts val="0"/>
              </a:spcBef>
              <a:spcAft>
                <a:spcPts val="0"/>
              </a:spcAft>
            </a:pPr>
            <a:r>
              <a:rPr sz="950" b="0">
                <a:solidFill>
                  <a:srgbClr val="14201B"/>
                </a:solidFill>
                <a:latin typeface="Helvetica Neue"/>
              </a:rPr>
              <a:t>Creates the first event and hands the laptop to the cashier</a:t>
            </a:r>
          </a:p>
        </p:txBody>
      </p:sp>
      <p:sp>
        <p:nvSpPr>
          <p:cNvPr id="49" name="TextBox 48"/>
          <p:cNvSpPr txBox="1"/>
          <p:nvPr/>
        </p:nvSpPr>
        <p:spPr>
          <a:xfrm>
            <a:off x="7351776" y="4754880"/>
            <a:ext cx="4016959" cy="274320"/>
          </a:xfrm>
          <a:prstGeom prst="rect">
            <a:avLst/>
          </a:prstGeom>
          <a:noFill/>
        </p:spPr>
        <p:txBody>
          <a:bodyPr wrap="square" lIns="0" rIns="0" tIns="0" bIns="0">
            <a:spAutoFit/>
          </a:bodyPr>
          <a:lstStyle/>
          <a:p>
            <a:pPr>
              <a:lnSpc>
                <a:spcPct val="122000"/>
              </a:lnSpc>
              <a:spcBef>
                <a:spcPts val="0"/>
              </a:spcBef>
              <a:spcAft>
                <a:spcPts val="0"/>
              </a:spcAft>
            </a:pPr>
            <a:r>
              <a:rPr sz="900" b="0">
                <a:solidFill>
                  <a:srgbClr val="5D6F66"/>
                </a:solidFill>
                <a:latin typeface="Helvetica Neue"/>
              </a:rPr>
              <a:t>Ready to trade</a:t>
            </a:r>
          </a:p>
        </p:txBody>
      </p:sp>
      <p:sp>
        <p:nvSpPr>
          <p:cNvPr id="50" name="TextBox 49"/>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first run on a new machine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07</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Result</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What actually exists today, measured rather than asserted. Every figure on the next slide was produced by running the command, not by quoting a document.</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08 GAP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07  </a:t>
            </a:r>
            <a:r>
              <a:rPr sz="900">
                <a:solidFill>
                  <a:srgbClr val="7E8E86"/>
                </a:solidFill>
                <a:latin typeface="Menlo"/>
              </a:rPr>
              <a:t>RESULT</a:t>
            </a:r>
            <a:r>
              <a:rPr sz="900">
                <a:solidFill>
                  <a:srgbClr val="7E8E86"/>
                </a:solidFill>
                <a:latin typeface="Menlo"/>
              </a:rPr>
              <a:t>   ·   WHAT SHIPS TODAY</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The product, in numbers.</a:t>
            </a:r>
          </a:p>
        </p:txBody>
      </p:sp>
      <p:sp>
        <p:nvSpPr>
          <p:cNvPr id="5" name="Rounded Rectangle 4"/>
          <p:cNvSpPr/>
          <p:nvPr/>
        </p:nvSpPr>
        <p:spPr>
          <a:xfrm>
            <a:off x="658368" y="1627632"/>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64792"/>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BACKEND TESTS</a:t>
            </a:r>
          </a:p>
          <a:p>
            <a:pPr>
              <a:spcBef>
                <a:spcPts val="300"/>
              </a:spcBef>
              <a:spcAft>
                <a:spcPts val="0"/>
              </a:spcAft>
            </a:pPr>
            <a:r>
              <a:rPr sz="2600" b="1">
                <a:solidFill>
                  <a:srgbClr val="14201B"/>
                </a:solidFill>
                <a:latin typeface="Helvetica Neue"/>
              </a:rPr>
              <a:t>492</a:t>
            </a:r>
          </a:p>
          <a:p>
            <a:pPr>
              <a:lnSpc>
                <a:spcPct val="130000"/>
              </a:lnSpc>
              <a:spcBef>
                <a:spcPts val="300"/>
              </a:spcBef>
              <a:spcAft>
                <a:spcPts val="0"/>
              </a:spcAft>
            </a:pPr>
            <a:r>
              <a:rPr sz="850" b="0">
                <a:solidFill>
                  <a:srgbClr val="7E8E86"/>
                </a:solidFill>
                <a:latin typeface="Helvetica Neue"/>
              </a:rPr>
              <a:t>all passing · 1,670 assertions</a:t>
            </a:r>
          </a:p>
        </p:txBody>
      </p:sp>
      <p:sp>
        <p:nvSpPr>
          <p:cNvPr id="7" name="Rounded Rectangle 6"/>
          <p:cNvSpPr/>
          <p:nvPr/>
        </p:nvSpPr>
        <p:spPr>
          <a:xfrm>
            <a:off x="3409111" y="1627632"/>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3703" y="1764792"/>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FRONTEND TESTS</a:t>
            </a:r>
          </a:p>
          <a:p>
            <a:pPr>
              <a:spcBef>
                <a:spcPts val="300"/>
              </a:spcBef>
              <a:spcAft>
                <a:spcPts val="0"/>
              </a:spcAft>
            </a:pPr>
            <a:r>
              <a:rPr sz="2600" b="1">
                <a:solidFill>
                  <a:srgbClr val="14201B"/>
                </a:solidFill>
                <a:latin typeface="Helvetica Neue"/>
              </a:rPr>
              <a:t>223</a:t>
            </a:r>
          </a:p>
          <a:p>
            <a:pPr>
              <a:lnSpc>
                <a:spcPct val="130000"/>
              </a:lnSpc>
              <a:spcBef>
                <a:spcPts val="300"/>
              </a:spcBef>
              <a:spcAft>
                <a:spcPts val="0"/>
              </a:spcAft>
            </a:pPr>
            <a:r>
              <a:rPr sz="850" b="0">
                <a:solidFill>
                  <a:srgbClr val="7E8E86"/>
                </a:solidFill>
                <a:latin typeface="Helvetica Neue"/>
              </a:rPr>
              <a:t>221 passing, 2 skipped · 45 files</a:t>
            </a:r>
          </a:p>
        </p:txBody>
      </p:sp>
      <p:sp>
        <p:nvSpPr>
          <p:cNvPr id="9" name="Rounded Rectangle 8"/>
          <p:cNvSpPr/>
          <p:nvPr/>
        </p:nvSpPr>
        <p:spPr>
          <a:xfrm>
            <a:off x="6159855" y="1627632"/>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764792"/>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API ENDPOINTS</a:t>
            </a:r>
          </a:p>
          <a:p>
            <a:pPr>
              <a:spcBef>
                <a:spcPts val="300"/>
              </a:spcBef>
              <a:spcAft>
                <a:spcPts val="0"/>
              </a:spcAft>
            </a:pPr>
            <a:r>
              <a:rPr sz="2600" b="1">
                <a:solidFill>
                  <a:srgbClr val="14201B"/>
                </a:solidFill>
                <a:latin typeface="Helvetica Neue"/>
              </a:rPr>
              <a:t>159</a:t>
            </a:r>
          </a:p>
          <a:p>
            <a:pPr>
              <a:lnSpc>
                <a:spcPct val="130000"/>
              </a:lnSpc>
              <a:spcBef>
                <a:spcPts val="300"/>
              </a:spcBef>
              <a:spcAft>
                <a:spcPts val="0"/>
              </a:spcAft>
            </a:pPr>
            <a:r>
              <a:rPr sz="850" b="0">
                <a:solidFill>
                  <a:srgbClr val="7E8E86"/>
                </a:solidFill>
                <a:latin typeface="Helvetica Neue"/>
              </a:rPr>
              <a:t>70 GET · 47 POST · 21 PUT · 17 DELETE</a:t>
            </a:r>
          </a:p>
        </p:txBody>
      </p:sp>
      <p:sp>
        <p:nvSpPr>
          <p:cNvPr id="11" name="Rounded Rectangle 10"/>
          <p:cNvSpPr/>
          <p:nvPr/>
        </p:nvSpPr>
        <p:spPr>
          <a:xfrm>
            <a:off x="8910599" y="1627632"/>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5191" y="1764792"/>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SCREENS</a:t>
            </a:r>
          </a:p>
          <a:p>
            <a:pPr>
              <a:spcBef>
                <a:spcPts val="300"/>
              </a:spcBef>
              <a:spcAft>
                <a:spcPts val="0"/>
              </a:spcAft>
            </a:pPr>
            <a:r>
              <a:rPr sz="2600" b="1">
                <a:solidFill>
                  <a:srgbClr val="14201B"/>
                </a:solidFill>
                <a:latin typeface="Helvetica Neue"/>
              </a:rPr>
              <a:t>27</a:t>
            </a:r>
          </a:p>
          <a:p>
            <a:pPr>
              <a:lnSpc>
                <a:spcPct val="130000"/>
              </a:lnSpc>
              <a:spcBef>
                <a:spcPts val="300"/>
              </a:spcBef>
              <a:spcAft>
                <a:spcPts val="0"/>
              </a:spcAft>
            </a:pPr>
            <a:r>
              <a:rPr sz="850" b="0">
                <a:solidFill>
                  <a:srgbClr val="7E8E86"/>
                </a:solidFill>
                <a:latin typeface="Helvetica Neue"/>
              </a:rPr>
              <a:t>plus 48 shared components</a:t>
            </a:r>
          </a:p>
        </p:txBody>
      </p:sp>
      <p:sp>
        <p:nvSpPr>
          <p:cNvPr id="13" name="Rounded Rectangle 12"/>
          <p:cNvSpPr/>
          <p:nvPr/>
        </p:nvSpPr>
        <p:spPr>
          <a:xfrm>
            <a:off x="658368" y="2962656"/>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99816"/>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LINES OF CODE</a:t>
            </a:r>
          </a:p>
          <a:p>
            <a:pPr>
              <a:spcBef>
                <a:spcPts val="300"/>
              </a:spcBef>
              <a:spcAft>
                <a:spcPts val="0"/>
              </a:spcAft>
            </a:pPr>
            <a:r>
              <a:rPr sz="2600" b="1">
                <a:solidFill>
                  <a:srgbClr val="14201B"/>
                </a:solidFill>
                <a:latin typeface="Helvetica Neue"/>
              </a:rPr>
              <a:t>50,216</a:t>
            </a:r>
          </a:p>
          <a:p>
            <a:pPr>
              <a:lnSpc>
                <a:spcPct val="130000"/>
              </a:lnSpc>
              <a:spcBef>
                <a:spcPts val="300"/>
              </a:spcBef>
              <a:spcAft>
                <a:spcPts val="0"/>
              </a:spcAft>
            </a:pPr>
            <a:r>
              <a:rPr sz="850" b="0">
                <a:solidFill>
                  <a:srgbClr val="7E8E86"/>
                </a:solidFill>
                <a:latin typeface="Helvetica Neue"/>
              </a:rPr>
              <a:t>30,753 PHP · 19,463 JS &amp; Vue</a:t>
            </a:r>
          </a:p>
        </p:txBody>
      </p:sp>
      <p:sp>
        <p:nvSpPr>
          <p:cNvPr id="15" name="Rounded Rectangle 14"/>
          <p:cNvSpPr/>
          <p:nvPr/>
        </p:nvSpPr>
        <p:spPr>
          <a:xfrm>
            <a:off x="3409111" y="2962656"/>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3703" y="3099816"/>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MIGRATIONS</a:t>
            </a:r>
          </a:p>
          <a:p>
            <a:pPr>
              <a:spcBef>
                <a:spcPts val="300"/>
              </a:spcBef>
              <a:spcAft>
                <a:spcPts val="0"/>
              </a:spcAft>
            </a:pPr>
            <a:r>
              <a:rPr sz="2600" b="1">
                <a:solidFill>
                  <a:srgbClr val="14201B"/>
                </a:solidFill>
                <a:latin typeface="Helvetica Neue"/>
              </a:rPr>
              <a:t>46</a:t>
            </a:r>
          </a:p>
          <a:p>
            <a:pPr>
              <a:lnSpc>
                <a:spcPct val="130000"/>
              </a:lnSpc>
              <a:spcBef>
                <a:spcPts val="300"/>
              </a:spcBef>
              <a:spcAft>
                <a:spcPts val="0"/>
              </a:spcAft>
            </a:pPr>
            <a:r>
              <a:rPr sz="850" b="0">
                <a:solidFill>
                  <a:srgbClr val="7E8E86"/>
                </a:solidFill>
                <a:latin typeface="Helvetica Neue"/>
              </a:rPr>
              <a:t>38 models · 20 services</a:t>
            </a:r>
          </a:p>
        </p:txBody>
      </p:sp>
      <p:sp>
        <p:nvSpPr>
          <p:cNvPr id="17" name="Rounded Rectangle 16"/>
          <p:cNvSpPr/>
          <p:nvPr/>
        </p:nvSpPr>
        <p:spPr>
          <a:xfrm>
            <a:off x="6159855" y="2962656"/>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3099816"/>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SPECIFIED FEATURES</a:t>
            </a:r>
          </a:p>
          <a:p>
            <a:pPr>
              <a:spcBef>
                <a:spcPts val="300"/>
              </a:spcBef>
              <a:spcAft>
                <a:spcPts val="0"/>
              </a:spcAft>
            </a:pPr>
            <a:r>
              <a:rPr sz="2600" b="1">
                <a:solidFill>
                  <a:srgbClr val="14201B"/>
                </a:solidFill>
                <a:latin typeface="Helvetica Neue"/>
              </a:rPr>
              <a:t>19</a:t>
            </a:r>
          </a:p>
          <a:p>
            <a:pPr>
              <a:lnSpc>
                <a:spcPct val="130000"/>
              </a:lnSpc>
              <a:spcBef>
                <a:spcPts val="300"/>
              </a:spcBef>
              <a:spcAft>
                <a:spcPts val="0"/>
              </a:spcAft>
            </a:pPr>
            <a:r>
              <a:rPr sz="850" b="0">
                <a:solidFill>
                  <a:srgbClr val="7E8E86"/>
                </a:solidFill>
                <a:latin typeface="Helvetica Neue"/>
              </a:rPr>
              <a:t>each with spec, plan &amp; research</a:t>
            </a:r>
          </a:p>
        </p:txBody>
      </p:sp>
      <p:sp>
        <p:nvSpPr>
          <p:cNvPr id="19" name="Rounded Rectangle 18"/>
          <p:cNvSpPr/>
          <p:nvPr/>
        </p:nvSpPr>
        <p:spPr>
          <a:xfrm>
            <a:off x="8910599" y="2962656"/>
            <a:ext cx="2622727" cy="120700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5191" y="3099816"/>
            <a:ext cx="2293543" cy="914400"/>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DEFECTS FIXED</a:t>
            </a:r>
          </a:p>
          <a:p>
            <a:pPr>
              <a:spcBef>
                <a:spcPts val="300"/>
              </a:spcBef>
              <a:spcAft>
                <a:spcPts val="0"/>
              </a:spcAft>
            </a:pPr>
            <a:r>
              <a:rPr sz="2600" b="1">
                <a:solidFill>
                  <a:srgbClr val="14201B"/>
                </a:solidFill>
                <a:latin typeface="Helvetica Neue"/>
              </a:rPr>
              <a:t>27</a:t>
            </a:r>
          </a:p>
          <a:p>
            <a:pPr>
              <a:lnSpc>
                <a:spcPct val="130000"/>
              </a:lnSpc>
              <a:spcBef>
                <a:spcPts val="300"/>
              </a:spcBef>
              <a:spcAft>
                <a:spcPts val="0"/>
              </a:spcAft>
            </a:pPr>
            <a:r>
              <a:rPr sz="850" b="0">
                <a:solidFill>
                  <a:srgbClr val="7E8E86"/>
                </a:solidFill>
                <a:latin typeface="Helvetica Neue"/>
              </a:rPr>
              <a:t>each proven by a failing test</a:t>
            </a:r>
          </a:p>
        </p:txBody>
      </p:sp>
      <p:sp>
        <p:nvSpPr>
          <p:cNvPr id="21" name="Rectangle 20"/>
          <p:cNvSpPr/>
          <p:nvPr/>
        </p:nvSpPr>
        <p:spPr>
          <a:xfrm>
            <a:off x="658368" y="4279392"/>
            <a:ext cx="5364327" cy="65836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279392"/>
            <a:ext cx="34925" cy="658368"/>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361688"/>
            <a:ext cx="5090007" cy="512064"/>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Authorization: 45 request-level gates, 15 policy classes and inline role checks across three server-side layers.</a:t>
            </a:r>
          </a:p>
        </p:txBody>
      </p:sp>
      <p:sp>
        <p:nvSpPr>
          <p:cNvPr id="24" name="Rectangle 23"/>
          <p:cNvSpPr/>
          <p:nvPr/>
        </p:nvSpPr>
        <p:spPr>
          <a:xfrm>
            <a:off x="6168999" y="4279392"/>
            <a:ext cx="5364327" cy="65836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8999" y="4279392"/>
            <a:ext cx="34925" cy="658368"/>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5303" y="4361688"/>
            <a:ext cx="5090007" cy="512064"/>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Delivery: 93 commits and 18 merged pull requests between 31 Aug and 8 Sep 2026, all against real MySQL 8.</a:t>
            </a:r>
          </a:p>
        </p:txBody>
      </p:sp>
      <p:sp>
        <p:nvSpPr>
          <p:cNvPr id="27" name="TextBox 26"/>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measured by running the commands, not quoting a document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07  </a:t>
            </a:r>
            <a:r>
              <a:rPr sz="900">
                <a:solidFill>
                  <a:srgbClr val="7E8E86"/>
                </a:solidFill>
                <a:latin typeface="Menlo"/>
              </a:rPr>
              <a:t>RESULT</a:t>
            </a:r>
            <a:r>
              <a:rPr sz="900">
                <a:solidFill>
                  <a:srgbClr val="7E8E86"/>
                </a:solidFill>
                <a:latin typeface="Menlo"/>
              </a:rPr>
              <a:t>   ·   WAYS TO RUN IT</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Three deployment paths, at three levels of maturity.</a:t>
            </a:r>
          </a:p>
        </p:txBody>
      </p:sp>
      <p:sp>
        <p:nvSpPr>
          <p:cNvPr id="5" name="Rectangle 4"/>
          <p:cNvSpPr/>
          <p:nvPr/>
        </p:nvSpPr>
        <p:spPr>
          <a:xfrm>
            <a:off x="658368" y="1591056"/>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82496"/>
            <a:ext cx="210312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PATH</a:t>
            </a:r>
          </a:p>
        </p:txBody>
      </p:sp>
      <p:sp>
        <p:nvSpPr>
          <p:cNvPr id="7" name="TextBox 6"/>
          <p:cNvSpPr txBox="1"/>
          <p:nvPr/>
        </p:nvSpPr>
        <p:spPr>
          <a:xfrm>
            <a:off x="3035808" y="1682496"/>
            <a:ext cx="7031736"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WHAT IT IS</a:t>
            </a:r>
          </a:p>
        </p:txBody>
      </p:sp>
      <p:sp>
        <p:nvSpPr>
          <p:cNvPr id="8" name="TextBox 7"/>
          <p:cNvSpPr txBox="1"/>
          <p:nvPr/>
        </p:nvSpPr>
        <p:spPr>
          <a:xfrm>
            <a:off x="10250424" y="1682496"/>
            <a:ext cx="1188720" cy="219456"/>
          </a:xfrm>
          <a:prstGeom prst="rect">
            <a:avLst/>
          </a:prstGeom>
          <a:noFill/>
        </p:spPr>
        <p:txBody>
          <a:bodyPr wrap="square" lIns="0" rIns="0" tIns="0" bIns="0">
            <a:spAutoFit/>
          </a:bodyPr>
          <a:lstStyle/>
          <a:p>
            <a:pPr>
              <a:spcBef>
                <a:spcPts val="0"/>
              </a:spcBef>
              <a:spcAft>
                <a:spcPts val="0"/>
              </a:spcAft>
            </a:pPr>
            <a:r>
              <a:rPr sz="800" b="1">
                <a:solidFill>
                  <a:srgbClr val="7E8E86"/>
                </a:solidFill>
                <a:latin typeface="Menlo"/>
              </a:rPr>
              <a:t>MATURITY</a:t>
            </a:r>
          </a:p>
        </p:txBody>
      </p:sp>
      <p:sp>
        <p:nvSpPr>
          <p:cNvPr id="9" name="Rectangle 8"/>
          <p:cNvSpPr/>
          <p:nvPr/>
        </p:nvSpPr>
        <p:spPr>
          <a:xfrm>
            <a:off x="658368" y="1975104"/>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75688"/>
            <a:ext cx="21031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Native install</a:t>
            </a:r>
          </a:p>
        </p:txBody>
      </p:sp>
      <p:sp>
        <p:nvSpPr>
          <p:cNvPr id="11" name="TextBox 10"/>
          <p:cNvSpPr txBox="1"/>
          <p:nvPr/>
        </p:nvSpPr>
        <p:spPr>
          <a:xfrm>
            <a:off x="3035808" y="2075688"/>
            <a:ext cx="703173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PHP and MySQL 8 installed directly on the shop's laptop, served over localhost. The original and best-exercised path.</a:t>
            </a:r>
          </a:p>
        </p:txBody>
      </p:sp>
      <p:sp>
        <p:nvSpPr>
          <p:cNvPr id="12" name="TextBox 11"/>
          <p:cNvSpPr txBox="1"/>
          <p:nvPr/>
        </p:nvSpPr>
        <p:spPr>
          <a:xfrm>
            <a:off x="10250424" y="2075688"/>
            <a:ext cx="11887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Shipped &amp; proven</a:t>
            </a:r>
          </a:p>
        </p:txBody>
      </p:sp>
      <p:sp>
        <p:nvSpPr>
          <p:cNvPr id="13" name="Rectangle 12"/>
          <p:cNvSpPr/>
          <p:nvPr/>
        </p:nvSpPr>
        <p:spPr>
          <a:xfrm>
            <a:off x="658368" y="2601758"/>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702342"/>
            <a:ext cx="21031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Docker store image</a:t>
            </a:r>
          </a:p>
        </p:txBody>
      </p:sp>
      <p:sp>
        <p:nvSpPr>
          <p:cNvPr id="15" name="TextBox 14"/>
          <p:cNvSpPr txBox="1"/>
          <p:nvPr/>
        </p:nvSpPr>
        <p:spPr>
          <a:xfrm>
            <a:off x="3035808" y="2702342"/>
            <a:ext cx="703173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 self-contained image with the build baked in, plus MySQL on a named volume so an upgrade never touches your data. Delivered by registry pull or as an offline .tar on a USB stick.</a:t>
            </a:r>
          </a:p>
        </p:txBody>
      </p:sp>
      <p:sp>
        <p:nvSpPr>
          <p:cNvPr id="16" name="TextBox 15"/>
          <p:cNvSpPr txBox="1"/>
          <p:nvPr/>
        </p:nvSpPr>
        <p:spPr>
          <a:xfrm>
            <a:off x="10250424" y="2702342"/>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Shipped, rough edges</a:t>
            </a:r>
          </a:p>
        </p:txBody>
      </p:sp>
      <p:sp>
        <p:nvSpPr>
          <p:cNvPr id="17" name="Rectangle 16"/>
          <p:cNvSpPr/>
          <p:nvPr/>
        </p:nvSpPr>
        <p:spPr>
          <a:xfrm>
            <a:off x="658368" y="3380957"/>
            <a:ext cx="10874959" cy="9525"/>
          </a:xfrm>
          <a:prstGeom prst="rect">
            <a:avLst/>
          </a:prstGeom>
          <a:solidFill>
            <a:srgbClr val="E9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481541"/>
            <a:ext cx="2103120" cy="457200"/>
          </a:xfrm>
          <a:prstGeom prst="rect">
            <a:avLst/>
          </a:prstGeom>
          <a:noFill/>
        </p:spPr>
        <p:txBody>
          <a:bodyPr wrap="square" lIns="0" rIns="0" tIns="0" bIns="0">
            <a:spAutoFit/>
          </a:bodyPr>
          <a:lstStyle/>
          <a:p>
            <a:pPr>
              <a:lnSpc>
                <a:spcPct val="130000"/>
              </a:lnSpc>
              <a:spcBef>
                <a:spcPts val="0"/>
              </a:spcBef>
              <a:spcAft>
                <a:spcPts val="0"/>
              </a:spcAft>
            </a:pPr>
            <a:r>
              <a:rPr sz="1000" b="1">
                <a:solidFill>
                  <a:srgbClr val="14201B"/>
                </a:solidFill>
                <a:latin typeface="Helvetica Neue"/>
              </a:rPr>
              <a:t>Android tablet</a:t>
            </a:r>
          </a:p>
        </p:txBody>
      </p:sp>
      <p:sp>
        <p:nvSpPr>
          <p:cNvPr id="19" name="TextBox 18"/>
          <p:cNvSpPr txBox="1"/>
          <p:nvPr/>
        </p:nvSpPr>
        <p:spPr>
          <a:xfrm>
            <a:off x="3035808" y="3481541"/>
            <a:ext cx="7031736"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A design and code scaffold for running the whole stack on-device. Nothing has been compiled, signed or run on a device.</a:t>
            </a:r>
          </a:p>
        </p:txBody>
      </p:sp>
      <p:sp>
        <p:nvSpPr>
          <p:cNvPr id="20" name="TextBox 19"/>
          <p:cNvSpPr txBox="1"/>
          <p:nvPr/>
        </p:nvSpPr>
        <p:spPr>
          <a:xfrm>
            <a:off x="10250424" y="3481541"/>
            <a:ext cx="1188720" cy="457200"/>
          </a:xfrm>
          <a:prstGeom prst="rect">
            <a:avLst/>
          </a:prstGeom>
          <a:noFill/>
        </p:spPr>
        <p:txBody>
          <a:bodyPr wrap="square" lIns="0" rIns="0" tIns="0" bIns="0">
            <a:spAutoFit/>
          </a:bodyPr>
          <a:lstStyle/>
          <a:p>
            <a:pPr>
              <a:lnSpc>
                <a:spcPct val="130000"/>
              </a:lnSpc>
              <a:spcBef>
                <a:spcPts val="0"/>
              </a:spcBef>
              <a:spcAft>
                <a:spcPts val="0"/>
              </a:spcAft>
            </a:pPr>
            <a:r>
              <a:rPr sz="950" b="0">
                <a:solidFill>
                  <a:srgbClr val="5D6F66"/>
                </a:solidFill>
                <a:latin typeface="Helvetica Neue"/>
              </a:rPr>
              <a:t>Not a product yet</a:t>
            </a:r>
          </a:p>
        </p:txBody>
      </p:sp>
      <p:sp>
        <p:nvSpPr>
          <p:cNvPr id="21" name="Rectangle 20"/>
          <p:cNvSpPr/>
          <p:nvPr/>
        </p:nvSpPr>
        <p:spPr>
          <a:xfrm>
            <a:off x="658368" y="4140470"/>
            <a:ext cx="10874959" cy="65836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140470"/>
            <a:ext cx="34925" cy="658368"/>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222766"/>
            <a:ext cx="10600639" cy="512064"/>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Across all of them: MySQL 8 is required (several migrations use raw MySQL-only CHECK constraints). Nothing phones home. The database is not reachable from outside the machine. Upgrades are a deliberate operator action and roll back by pointing the version tag at the previous image.</a:t>
            </a:r>
          </a:p>
        </p:txBody>
      </p:sp>
      <p:sp>
        <p:nvSpPr>
          <p:cNvPr id="24" name="TextBox 23"/>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ways to run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TextBox 1"/>
          <p:cNvSpPr txBox="1"/>
          <p:nvPr/>
        </p:nvSpPr>
        <p:spPr>
          <a:xfrm>
            <a:off x="658368" y="1371600"/>
            <a:ext cx="5486400" cy="274320"/>
          </a:xfrm>
          <a:prstGeom prst="rect">
            <a:avLst/>
          </a:prstGeom>
          <a:noFill/>
        </p:spPr>
        <p:txBody>
          <a:bodyPr wrap="square" lIns="0" rIns="0" tIns="0" bIns="0">
            <a:spAutoFit/>
          </a:bodyPr>
          <a:lstStyle/>
          <a:p>
            <a:pPr>
              <a:spcBef>
                <a:spcPts val="0"/>
              </a:spcBef>
              <a:spcAft>
                <a:spcPts val="0"/>
              </a:spcAft>
            </a:pPr>
            <a:r>
              <a:rPr sz="1000" b="1">
                <a:solidFill>
                  <a:srgbClr val="2F9E6E"/>
                </a:solidFill>
                <a:latin typeface="Menlo"/>
              </a:rPr>
              <a:t>CHAPTER 08</a:t>
            </a:r>
          </a:p>
        </p:txBody>
      </p:sp>
      <p:sp>
        <p:nvSpPr>
          <p:cNvPr id="3" name="TextBox 2"/>
          <p:cNvSpPr txBox="1"/>
          <p:nvPr/>
        </p:nvSpPr>
        <p:spPr>
          <a:xfrm>
            <a:off x="658368" y="1783080"/>
            <a:ext cx="6949440" cy="1645920"/>
          </a:xfrm>
          <a:prstGeom prst="rect">
            <a:avLst/>
          </a:prstGeom>
          <a:noFill/>
        </p:spPr>
        <p:txBody>
          <a:bodyPr wrap="square" lIns="0" rIns="0" tIns="0" bIns="0">
            <a:spAutoFit/>
          </a:bodyPr>
          <a:lstStyle/>
          <a:p>
            <a:pPr>
              <a:lnSpc>
                <a:spcPct val="102000"/>
              </a:lnSpc>
              <a:spcBef>
                <a:spcPts val="0"/>
              </a:spcBef>
              <a:spcAft>
                <a:spcPts val="0"/>
              </a:spcAft>
            </a:pPr>
            <a:r>
              <a:rPr sz="4400" b="1">
                <a:solidFill>
                  <a:srgbClr val="FFFFFF"/>
                </a:solidFill>
                <a:latin typeface="Helvetica Neue"/>
              </a:rPr>
              <a:t>Gap</a:t>
            </a:r>
          </a:p>
        </p:txBody>
      </p:sp>
      <p:sp>
        <p:nvSpPr>
          <p:cNvPr id="4" name="TextBox 3"/>
          <p:cNvSpPr txBox="1"/>
          <p:nvPr/>
        </p:nvSpPr>
        <p:spPr>
          <a:xfrm>
            <a:off x="658368" y="3657600"/>
            <a:ext cx="6583680" cy="1097280"/>
          </a:xfrm>
          <a:prstGeom prst="rect">
            <a:avLst/>
          </a:prstGeom>
          <a:noFill/>
        </p:spPr>
        <p:txBody>
          <a:bodyPr wrap="square" lIns="0" rIns="0" tIns="0" bIns="0">
            <a:spAutoFit/>
          </a:bodyPr>
          <a:lstStyle/>
          <a:p>
            <a:pPr>
              <a:lnSpc>
                <a:spcPct val="145000"/>
              </a:lnSpc>
              <a:spcBef>
                <a:spcPts val="0"/>
              </a:spcBef>
              <a:spcAft>
                <a:spcPts val="0"/>
              </a:spcAft>
            </a:pPr>
            <a:r>
              <a:rPr sz="1250" b="0">
                <a:solidFill>
                  <a:srgbClr val="9DB0A7"/>
                </a:solidFill>
                <a:latin typeface="Helvetica Neue"/>
              </a:rPr>
              <a:t>A customer discovering an undisclosed limitation after paying is worse than being told upfront. 47 gaps were catalogued; these are the ones that would change a buying decision.</a:t>
            </a:r>
          </a:p>
        </p:txBody>
      </p:sp>
      <p:sp>
        <p:nvSpPr>
          <p:cNvPr id="5" name="Rounded Rectangle 4"/>
          <p:cNvSpPr/>
          <p:nvPr/>
        </p:nvSpPr>
        <p:spPr>
          <a:xfrm>
            <a:off x="658368" y="5074920"/>
            <a:ext cx="13030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9784"/>
            <a:ext cx="13030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01 INTRODUCTION</a:t>
            </a:r>
          </a:p>
        </p:txBody>
      </p:sp>
      <p:sp>
        <p:nvSpPr>
          <p:cNvPr id="7" name="Rounded Rectangle 6"/>
          <p:cNvSpPr/>
          <p:nvPr/>
        </p:nvSpPr>
        <p:spPr>
          <a:xfrm>
            <a:off x="2034540" y="5074920"/>
            <a:ext cx="96012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4540" y="5129784"/>
            <a:ext cx="96012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02 PROBLEM</a:t>
            </a:r>
          </a:p>
        </p:txBody>
      </p:sp>
      <p:sp>
        <p:nvSpPr>
          <p:cNvPr id="9" name="Rounded Rectangle 8"/>
          <p:cNvSpPr/>
          <p:nvPr/>
        </p:nvSpPr>
        <p:spPr>
          <a:xfrm>
            <a:off x="3067812" y="5074920"/>
            <a:ext cx="82295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7812" y="5129784"/>
            <a:ext cx="82295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03 GOALS</a:t>
            </a:r>
          </a:p>
        </p:txBody>
      </p:sp>
      <p:sp>
        <p:nvSpPr>
          <p:cNvPr id="11" name="Rounded Rectangle 10"/>
          <p:cNvSpPr/>
          <p:nvPr/>
        </p:nvSpPr>
        <p:spPr>
          <a:xfrm>
            <a:off x="3963923" y="5074920"/>
            <a:ext cx="123444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63923" y="5129784"/>
            <a:ext cx="123444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04 METHODOLOGY</a:t>
            </a:r>
          </a:p>
        </p:txBody>
      </p:sp>
      <p:sp>
        <p:nvSpPr>
          <p:cNvPr id="13" name="Rounded Rectangle 12"/>
          <p:cNvSpPr/>
          <p:nvPr/>
        </p:nvSpPr>
        <p:spPr>
          <a:xfrm>
            <a:off x="5271515" y="5074920"/>
            <a:ext cx="102870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1515" y="5129784"/>
            <a:ext cx="102870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05 FEATURES</a:t>
            </a:r>
          </a:p>
        </p:txBody>
      </p:sp>
      <p:sp>
        <p:nvSpPr>
          <p:cNvPr id="15" name="Rounded Rectangle 14"/>
          <p:cNvSpPr/>
          <p:nvPr/>
        </p:nvSpPr>
        <p:spPr>
          <a:xfrm>
            <a:off x="6373367" y="5074920"/>
            <a:ext cx="1508760"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7" y="5129784"/>
            <a:ext cx="1508760"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06 END-TO-END FLOW</a:t>
            </a:r>
          </a:p>
        </p:txBody>
      </p:sp>
      <p:sp>
        <p:nvSpPr>
          <p:cNvPr id="17" name="Rounded Rectangle 16"/>
          <p:cNvSpPr/>
          <p:nvPr/>
        </p:nvSpPr>
        <p:spPr>
          <a:xfrm>
            <a:off x="7955279" y="5074920"/>
            <a:ext cx="891539" cy="274320"/>
          </a:xfrm>
          <a:prstGeom prst="roundRect">
            <a:avLst>
              <a:gd name="adj" fmla="val 50000"/>
            </a:avLst>
          </a:prstGeom>
          <a:noFill/>
          <a:ln w="9525">
            <a:solidFill>
              <a:srgbClr val="223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5129784"/>
            <a:ext cx="891539" cy="182880"/>
          </a:xfrm>
          <a:prstGeom prst="rect">
            <a:avLst/>
          </a:prstGeom>
          <a:noFill/>
        </p:spPr>
        <p:txBody>
          <a:bodyPr wrap="square" lIns="0" rIns="0" tIns="0" bIns="0">
            <a:spAutoFit/>
          </a:bodyPr>
          <a:lstStyle/>
          <a:p>
            <a:pPr algn="ctr">
              <a:spcBef>
                <a:spcPts val="0"/>
              </a:spcBef>
              <a:spcAft>
                <a:spcPts val="0"/>
              </a:spcAft>
            </a:pPr>
            <a:r>
              <a:rPr sz="800" b="0">
                <a:solidFill>
                  <a:srgbClr val="7E8E86"/>
                </a:solidFill>
                <a:latin typeface="Menlo"/>
              </a:rPr>
              <a:t>07 RESULT</a:t>
            </a:r>
          </a:p>
        </p:txBody>
      </p:sp>
      <p:sp>
        <p:nvSpPr>
          <p:cNvPr id="19" name="Rounded Rectangle 18"/>
          <p:cNvSpPr/>
          <p:nvPr/>
        </p:nvSpPr>
        <p:spPr>
          <a:xfrm>
            <a:off x="8919970" y="5074920"/>
            <a:ext cx="685800" cy="274320"/>
          </a:xfrm>
          <a:prstGeom prst="roundRect">
            <a:avLst>
              <a:gd name="adj" fmla="val 50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9970" y="5129784"/>
            <a:ext cx="685800" cy="182880"/>
          </a:xfrm>
          <a:prstGeom prst="rect">
            <a:avLst/>
          </a:prstGeom>
          <a:noFill/>
        </p:spPr>
        <p:txBody>
          <a:bodyPr wrap="square" lIns="0" rIns="0" tIns="0" bIns="0">
            <a:spAutoFit/>
          </a:bodyPr>
          <a:lstStyle/>
          <a:p>
            <a:pPr algn="ctr">
              <a:spcBef>
                <a:spcPts val="0"/>
              </a:spcBef>
              <a:spcAft>
                <a:spcPts val="0"/>
              </a:spcAft>
            </a:pPr>
            <a:r>
              <a:rPr sz="800" b="1">
                <a:solidFill>
                  <a:srgbClr val="14201B"/>
                </a:solidFill>
                <a:latin typeface="Menlo"/>
              </a:rPr>
              <a:t>08 GAP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08.1  </a:t>
            </a:r>
            <a:r>
              <a:rPr sz="900">
                <a:solidFill>
                  <a:srgbClr val="7E8E86"/>
                </a:solidFill>
                <a:latin typeface="Menlo"/>
              </a:rPr>
              <a:t>GAP</a:t>
            </a:r>
            <a:r>
              <a:rPr sz="900">
                <a:solidFill>
                  <a:srgbClr val="7E8E86"/>
                </a:solidFill>
                <a:latin typeface="Menlo"/>
              </a:rPr>
              <a:t>   ·   BEFORE YOU BUY</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Five things to check against your own situation.</a:t>
            </a:r>
          </a:p>
        </p:txBody>
      </p:sp>
      <p:sp>
        <p:nvSpPr>
          <p:cNvPr id="5" name="Rounded Rectangle 4"/>
          <p:cNvSpPr/>
          <p:nvPr/>
        </p:nvSpPr>
        <p:spPr>
          <a:xfrm>
            <a:off x="658368" y="160934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1746504"/>
            <a:ext cx="960120" cy="219456"/>
          </a:xfrm>
          <a:prstGeom prst="roundRect">
            <a:avLst>
              <a:gd name="adj" fmla="val 20000"/>
            </a:avLst>
          </a:prstGeom>
          <a:solidFill>
            <a:srgbClr val="FBEDEC"/>
          </a:solidFill>
          <a:ln w="6350">
            <a:solidFill>
              <a:srgbClr val="A2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78308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A2534B"/>
                </a:solidFill>
                <a:latin typeface="Menlo"/>
              </a:rPr>
              <a:t>BLOCKER</a:t>
            </a:r>
          </a:p>
        </p:txBody>
      </p:sp>
      <p:sp>
        <p:nvSpPr>
          <p:cNvPr id="8" name="TextBox 7"/>
          <p:cNvSpPr txBox="1"/>
          <p:nvPr/>
        </p:nvSpPr>
        <p:spPr>
          <a:xfrm>
            <a:off x="1901952" y="171907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Windows machines cannot be activated</a:t>
            </a:r>
          </a:p>
          <a:p>
            <a:pPr>
              <a:lnSpc>
                <a:spcPct val="130000"/>
              </a:lnSpc>
              <a:spcBef>
                <a:spcPts val="300"/>
              </a:spcBef>
              <a:spcAft>
                <a:spcPts val="0"/>
              </a:spcAft>
            </a:pPr>
            <a:r>
              <a:rPr sz="900" b="0">
                <a:solidFill>
                  <a:srgbClr val="5D6F66"/>
                </a:solidFill>
                <a:latin typeface="Helvetica Neue"/>
              </a:rPr>
              <a:t>The licence binds to a hardware fingerprint read only from Linux or macOS. On any other platform activation throws and the installation stays permanently locked.</a:t>
            </a:r>
          </a:p>
        </p:txBody>
      </p:sp>
      <p:sp>
        <p:nvSpPr>
          <p:cNvPr id="9" name="Rounded Rectangle 8"/>
          <p:cNvSpPr/>
          <p:nvPr/>
        </p:nvSpPr>
        <p:spPr>
          <a:xfrm>
            <a:off x="658368" y="255300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2690164"/>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72674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OPERATIONAL</a:t>
            </a:r>
          </a:p>
        </p:txBody>
      </p:sp>
      <p:sp>
        <p:nvSpPr>
          <p:cNvPr id="12" name="TextBox 11"/>
          <p:cNvSpPr txBox="1"/>
          <p:nvPr/>
        </p:nvSpPr>
        <p:spPr>
          <a:xfrm>
            <a:off x="1901952" y="266273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Backup is a command, not a button</a:t>
            </a:r>
          </a:p>
          <a:p>
            <a:pPr>
              <a:lnSpc>
                <a:spcPct val="130000"/>
              </a:lnSpc>
              <a:spcBef>
                <a:spcPts val="300"/>
              </a:spcBef>
              <a:spcAft>
                <a:spcPts val="0"/>
              </a:spcAft>
            </a:pPr>
            <a:r>
              <a:rPr sz="900" b="0">
                <a:solidFill>
                  <a:srgbClr val="5D6F66"/>
                </a:solidFill>
                <a:latin typeface="Helvetica Neue"/>
              </a:rPr>
              <a:t>There is no backup or restore in the interface, and nothing is scheduled. Restore from a real external drive has not yet been exercised end to end.</a:t>
            </a:r>
          </a:p>
        </p:txBody>
      </p:sp>
      <p:sp>
        <p:nvSpPr>
          <p:cNvPr id="13" name="Rounded Rectangle 12"/>
          <p:cNvSpPr/>
          <p:nvPr/>
        </p:nvSpPr>
        <p:spPr>
          <a:xfrm>
            <a:off x="658368" y="3496665"/>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6384" y="3633825"/>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670401"/>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OPERATIONAL</a:t>
            </a:r>
          </a:p>
        </p:txBody>
      </p:sp>
      <p:sp>
        <p:nvSpPr>
          <p:cNvPr id="16" name="TextBox 15"/>
          <p:cNvSpPr txBox="1"/>
          <p:nvPr/>
        </p:nvSpPr>
        <p:spPr>
          <a:xfrm>
            <a:off x="1901952" y="3606393"/>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MySQL 8 must exist on the machine</a:t>
            </a:r>
          </a:p>
          <a:p>
            <a:pPr>
              <a:lnSpc>
                <a:spcPct val="130000"/>
              </a:lnSpc>
              <a:spcBef>
                <a:spcPts val="300"/>
              </a:spcBef>
              <a:spcAft>
                <a:spcPts val="0"/>
              </a:spcAft>
            </a:pPr>
            <a:r>
              <a:rPr sz="900" b="0">
                <a:solidFill>
                  <a:srgbClr val="5D6F66"/>
                </a:solidFill>
                <a:latin typeface="Helvetica Neue"/>
              </a:rPr>
              <a:t>There is no lightweight embedded-database option. Either install and maintain MySQL 8 yourself, or take the Docker path, which bundles it.</a:t>
            </a:r>
          </a:p>
        </p:txBody>
      </p:sp>
      <p:sp>
        <p:nvSpPr>
          <p:cNvPr id="17" name="Rounded Rectangle 16"/>
          <p:cNvSpPr/>
          <p:nvPr/>
        </p:nvSpPr>
        <p:spPr>
          <a:xfrm>
            <a:off x="658368" y="4440326"/>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6384" y="4577486"/>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614062"/>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SETUP</a:t>
            </a:r>
          </a:p>
        </p:txBody>
      </p:sp>
      <p:sp>
        <p:nvSpPr>
          <p:cNvPr id="20" name="TextBox 19"/>
          <p:cNvSpPr txBox="1"/>
          <p:nvPr/>
        </p:nvSpPr>
        <p:spPr>
          <a:xfrm>
            <a:off x="1901952" y="4550054"/>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Email needs configuration or it silently does nothing</a:t>
            </a:r>
          </a:p>
          <a:p>
            <a:pPr>
              <a:lnSpc>
                <a:spcPct val="130000"/>
              </a:lnSpc>
              <a:spcBef>
                <a:spcPts val="300"/>
              </a:spcBef>
              <a:spcAft>
                <a:spcPts val="0"/>
              </a:spcAft>
            </a:pPr>
            <a:r>
              <a:rPr sz="900" b="0">
                <a:solidFill>
                  <a:srgbClr val="5D6F66"/>
                </a:solidFill>
                <a:latin typeface="Helvetica Neue"/>
              </a:rPr>
              <a:t>Pre-order notifications only work if mail settings are filled in at install. Miss it and the attempt is logged as skipped rather than failing loudly. Mail is sent synchronously, so a slow server makes saving feel like a hang.</a:t>
            </a:r>
          </a:p>
        </p:txBody>
      </p:sp>
      <p:sp>
        <p:nvSpPr>
          <p:cNvPr id="21" name="Rounded Rectangle 20"/>
          <p:cNvSpPr/>
          <p:nvPr/>
        </p:nvSpPr>
        <p:spPr>
          <a:xfrm>
            <a:off x="658368" y="5383987"/>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5521147"/>
            <a:ext cx="960120" cy="219456"/>
          </a:xfrm>
          <a:prstGeom prst="roundRect">
            <a:avLst>
              <a:gd name="adj" fmla="val 20000"/>
            </a:avLst>
          </a:prstGeom>
          <a:solidFill>
            <a:srgbClr val="FBEDEC"/>
          </a:solidFill>
          <a:ln w="6350">
            <a:solidFill>
              <a:srgbClr val="A2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557723"/>
            <a:ext cx="960120" cy="164592"/>
          </a:xfrm>
          <a:prstGeom prst="rect">
            <a:avLst/>
          </a:prstGeom>
          <a:noFill/>
        </p:spPr>
        <p:txBody>
          <a:bodyPr wrap="square" lIns="0" rIns="0" tIns="0" bIns="0">
            <a:spAutoFit/>
          </a:bodyPr>
          <a:lstStyle/>
          <a:p>
            <a:pPr algn="ctr">
              <a:spcBef>
                <a:spcPts val="0"/>
              </a:spcBef>
              <a:spcAft>
                <a:spcPts val="0"/>
              </a:spcAft>
            </a:pPr>
            <a:r>
              <a:rPr sz="750" b="1">
                <a:solidFill>
                  <a:srgbClr val="A2534B"/>
                </a:solidFill>
                <a:latin typeface="Menlo"/>
              </a:rPr>
              <a:t>SECURITY</a:t>
            </a:r>
          </a:p>
        </p:txBody>
      </p:sp>
      <p:sp>
        <p:nvSpPr>
          <p:cNvPr id="24" name="TextBox 23"/>
          <p:cNvSpPr txBox="1"/>
          <p:nvPr/>
        </p:nvSpPr>
        <p:spPr>
          <a:xfrm>
            <a:off x="1901952" y="5493715"/>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Change the seeded passwords</a:t>
            </a:r>
          </a:p>
          <a:p>
            <a:pPr>
              <a:lnSpc>
                <a:spcPct val="130000"/>
              </a:lnSpc>
              <a:spcBef>
                <a:spcPts val="300"/>
              </a:spcBef>
              <a:spcAft>
                <a:spcPts val="0"/>
              </a:spcAft>
            </a:pPr>
            <a:r>
              <a:rPr sz="900" b="0">
                <a:solidFill>
                  <a:srgbClr val="5D6F66"/>
                </a:solidFill>
                <a:latin typeface="Helvetica Neue"/>
              </a:rPr>
              <a:t>The development seeder creates five accounts sharing one publicly documented password. No independent penetration test has been performed; the review to date is white-box code review only.</a:t>
            </a:r>
          </a:p>
        </p:txBody>
      </p:sp>
      <p:sp>
        <p:nvSpPr>
          <p:cNvPr id="25" name="TextBox 24"/>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before you buy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08.2  </a:t>
            </a:r>
            <a:r>
              <a:rPr sz="900">
                <a:solidFill>
                  <a:srgbClr val="7E8E86"/>
                </a:solidFill>
                <a:latin typeface="Menlo"/>
              </a:rPr>
              <a:t>GAP</a:t>
            </a:r>
            <a:r>
              <a:rPr sz="900">
                <a:solidFill>
                  <a:srgbClr val="7E8E86"/>
                </a:solidFill>
                <a:latin typeface="Menlo"/>
              </a:rPr>
              <a:t>   ·   ROUGH EDGES</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Things that work, but not as completely as they look.</a:t>
            </a:r>
          </a:p>
        </p:txBody>
      </p:sp>
      <p:sp>
        <p:nvSpPr>
          <p:cNvPr id="5" name="Rounded Rectangle 4"/>
          <p:cNvSpPr/>
          <p:nvPr/>
        </p:nvSpPr>
        <p:spPr>
          <a:xfrm>
            <a:off x="658368" y="160934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1746504"/>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78308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PAYMENTS</a:t>
            </a:r>
          </a:p>
        </p:txBody>
      </p:sp>
      <p:sp>
        <p:nvSpPr>
          <p:cNvPr id="8" name="TextBox 7"/>
          <p:cNvSpPr txBox="1"/>
          <p:nvPr/>
        </p:nvSpPr>
        <p:spPr>
          <a:xfrm>
            <a:off x="1901952" y="171907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Payment proofs are collected but never verified in-app</a:t>
            </a:r>
          </a:p>
          <a:p>
            <a:pPr>
              <a:lnSpc>
                <a:spcPct val="130000"/>
              </a:lnSpc>
              <a:spcBef>
                <a:spcPts val="300"/>
              </a:spcBef>
              <a:spcAft>
                <a:spcPts val="0"/>
              </a:spcAft>
            </a:pPr>
            <a:r>
              <a:rPr sz="900" b="0">
                <a:solidFill>
                  <a:srgbClr val="5D6F66"/>
                </a:solidFill>
                <a:latin typeface="Helvetica Neue"/>
              </a:rPr>
              <a:t>Non-cash payments stay 'pending' and nothing marks them verified. The image is stored safely but no screen displays it back. As a result the shift's payment-method breakdown reports cash only.</a:t>
            </a:r>
          </a:p>
        </p:txBody>
      </p:sp>
      <p:sp>
        <p:nvSpPr>
          <p:cNvPr id="9" name="Rounded Rectangle 8"/>
          <p:cNvSpPr/>
          <p:nvPr/>
        </p:nvSpPr>
        <p:spPr>
          <a:xfrm>
            <a:off x="658368" y="255300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2690164"/>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72674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PURCHASING</a:t>
            </a:r>
          </a:p>
        </p:txBody>
      </p:sp>
      <p:sp>
        <p:nvSpPr>
          <p:cNvPr id="12" name="TextBox 11"/>
          <p:cNvSpPr txBox="1"/>
          <p:nvPr/>
        </p:nvSpPr>
        <p:spPr>
          <a:xfrm>
            <a:off x="1901952" y="266273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Material stock has no screen</a:t>
            </a:r>
          </a:p>
          <a:p>
            <a:pPr>
              <a:lnSpc>
                <a:spcPct val="130000"/>
              </a:lnSpc>
              <a:spcBef>
                <a:spcPts val="300"/>
              </a:spcBef>
              <a:spcAft>
                <a:spcPts val="0"/>
              </a:spcAft>
            </a:pPr>
            <a:r>
              <a:rPr sz="900" b="0">
                <a:solidFill>
                  <a:srgbClr val="5D6F66"/>
                </a:solidFill>
                <a:latin typeface="Helvetica Neue"/>
              </a:rPr>
              <a:t>Receiving an order correctly increases material stock and writes its history, but there is nowhere in the interface to view either. Non-cash supplier payments do not complete.</a:t>
            </a:r>
          </a:p>
        </p:txBody>
      </p:sp>
      <p:sp>
        <p:nvSpPr>
          <p:cNvPr id="13" name="Rounded Rectangle 12"/>
          <p:cNvSpPr/>
          <p:nvPr/>
        </p:nvSpPr>
        <p:spPr>
          <a:xfrm>
            <a:off x="658368" y="3496665"/>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6384" y="3633825"/>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670401"/>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COSTING</a:t>
            </a:r>
          </a:p>
        </p:txBody>
      </p:sp>
      <p:sp>
        <p:nvSpPr>
          <p:cNvPr id="16" name="TextBox 15"/>
          <p:cNvSpPr txBox="1"/>
          <p:nvPr/>
        </p:nvSpPr>
        <p:spPr>
          <a:xfrm>
            <a:off x="1901952" y="3606393"/>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Recipe cost does not feed profit reports</a:t>
            </a:r>
          </a:p>
          <a:p>
            <a:pPr>
              <a:lnSpc>
                <a:spcPct val="130000"/>
              </a:lnSpc>
              <a:spcBef>
                <a:spcPts val="300"/>
              </a:spcBef>
              <a:spcAft>
                <a:spcPts val="0"/>
              </a:spcAft>
            </a:pPr>
            <a:r>
              <a:rPr sz="900" b="0">
                <a:solidFill>
                  <a:srgbClr val="5D6F66"/>
                </a:solidFill>
                <a:latin typeface="Helvetica Neue"/>
              </a:rPr>
              <a:t>Deliberate — overwriting the cost price that settlements depend on would be a correctness risk. But an accurate bill of materials does not by itself improve any profit figure.</a:t>
            </a:r>
          </a:p>
        </p:txBody>
      </p:sp>
      <p:sp>
        <p:nvSpPr>
          <p:cNvPr id="17" name="Rounded Rectangle 16"/>
          <p:cNvSpPr/>
          <p:nvPr/>
        </p:nvSpPr>
        <p:spPr>
          <a:xfrm>
            <a:off x="658368" y="4440326"/>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6384" y="4577486"/>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614062"/>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EXPORTS</a:t>
            </a:r>
          </a:p>
        </p:txBody>
      </p:sp>
      <p:sp>
        <p:nvSpPr>
          <p:cNvPr id="20" name="TextBox 19"/>
          <p:cNvSpPr txBox="1"/>
          <p:nvPr/>
        </p:nvSpPr>
        <p:spPr>
          <a:xfrm>
            <a:off x="1901952" y="4550054"/>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Six screens have an export button; four exports have none</a:t>
            </a:r>
          </a:p>
          <a:p>
            <a:pPr>
              <a:lnSpc>
                <a:spcPct val="130000"/>
              </a:lnSpc>
              <a:spcBef>
                <a:spcPts val="300"/>
              </a:spcBef>
              <a:spcAft>
                <a:spcPts val="0"/>
              </a:spcAft>
            </a:pPr>
            <a:r>
              <a:rPr sz="900" b="0">
                <a:solidFill>
                  <a:srgbClr val="5D6F66"/>
                </a:solidFill>
                <a:latin typeface="Helvetica Neue"/>
              </a:rPr>
              <a:t>Vendor prices, recipes, roles and users are exportable only by calling the endpoint directly. The invoice import template also ships with a dummy row that must be deleted first.</a:t>
            </a:r>
          </a:p>
        </p:txBody>
      </p:sp>
      <p:sp>
        <p:nvSpPr>
          <p:cNvPr id="21" name="Rounded Rectangle 20"/>
          <p:cNvSpPr/>
          <p:nvPr/>
        </p:nvSpPr>
        <p:spPr>
          <a:xfrm>
            <a:off x="658368" y="5383987"/>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5521147"/>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557723"/>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BILLING</a:t>
            </a:r>
          </a:p>
        </p:txBody>
      </p:sp>
      <p:sp>
        <p:nvSpPr>
          <p:cNvPr id="24" name="TextBox 23"/>
          <p:cNvSpPr txBox="1"/>
          <p:nvPr/>
        </p:nvSpPr>
        <p:spPr>
          <a:xfrm>
            <a:off x="1901952" y="5493715"/>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Saved bank details never reach the invoice</a:t>
            </a:r>
          </a:p>
          <a:p>
            <a:pPr>
              <a:lnSpc>
                <a:spcPct val="130000"/>
              </a:lnSpc>
              <a:spcBef>
                <a:spcPts val="300"/>
              </a:spcBef>
              <a:spcAft>
                <a:spcPts val="0"/>
              </a:spcAft>
            </a:pPr>
            <a:r>
              <a:rPr sz="900" b="0">
                <a:solidFill>
                  <a:srgbClr val="5D6F66"/>
                </a:solidFill>
                <a:latin typeface="Helvetica Neue"/>
              </a:rPr>
              <a:t>Settings → Payment stores bank name, account number and holder, but only the free-text instructions box is copied onto an invoice.</a:t>
            </a:r>
          </a:p>
        </p:txBody>
      </p:sp>
      <p:sp>
        <p:nvSpPr>
          <p:cNvPr id="25" name="TextBox 24"/>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rough edges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08.3  </a:t>
            </a:r>
            <a:r>
              <a:rPr sz="900">
                <a:solidFill>
                  <a:srgbClr val="7E8E86"/>
                </a:solidFill>
                <a:latin typeface="Menlo"/>
              </a:rPr>
              <a:t>GAP</a:t>
            </a:r>
            <a:r>
              <a:rPr sz="900">
                <a:solidFill>
                  <a:srgbClr val="7E8E86"/>
                </a:solidFill>
                <a:latin typeface="Menlo"/>
              </a:rPr>
              <a:t>   ·   ROADMAP</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What the gaps point to next.</a:t>
            </a:r>
          </a:p>
        </p:txBody>
      </p:sp>
      <p:sp>
        <p:nvSpPr>
          <p:cNvPr id="5" name="Rounded Rectangle 4"/>
          <p:cNvSpPr/>
          <p:nvPr/>
        </p:nvSpPr>
        <p:spPr>
          <a:xfrm>
            <a:off x="658368"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NEAR TERM</a:t>
            </a:r>
          </a:p>
          <a:p>
            <a:pPr>
              <a:lnSpc>
                <a:spcPct val="115000"/>
              </a:lnSpc>
              <a:spcBef>
                <a:spcPts val="500"/>
              </a:spcBef>
              <a:spcAft>
                <a:spcPts val="0"/>
              </a:spcAft>
            </a:pPr>
            <a:r>
              <a:rPr sz="1250" b="1">
                <a:solidFill>
                  <a:srgbClr val="14201B"/>
                </a:solidFill>
                <a:latin typeface="Helvetica Neue"/>
              </a:rPr>
              <a:t>Close the honesty gaps</a:t>
            </a:r>
          </a:p>
          <a:p>
            <a:pPr>
              <a:lnSpc>
                <a:spcPct val="132000"/>
              </a:lnSpc>
              <a:spcBef>
                <a:spcPts val="500"/>
              </a:spcBef>
              <a:spcAft>
                <a:spcPts val="0"/>
              </a:spcAft>
            </a:pPr>
            <a:r>
              <a:rPr sz="950" b="0">
                <a:solidFill>
                  <a:srgbClr val="5D6F66"/>
                </a:solidFill>
                <a:latin typeface="Helvetica Neue"/>
              </a:rPr>
              <a:t>Windows fingerprint support. A backup button in the interface. Payment-proof viewing and verification. A material stock screen. The missing export buttons.</a:t>
            </a:r>
          </a:p>
        </p:txBody>
      </p:sp>
      <p:sp>
        <p:nvSpPr>
          <p:cNvPr id="7" name="Rounded Rectangle 6"/>
          <p:cNvSpPr/>
          <p:nvPr/>
        </p:nvSpPr>
        <p:spPr>
          <a:xfrm>
            <a:off x="4332122"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5858"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MEDIUM TERM</a:t>
            </a:r>
          </a:p>
          <a:p>
            <a:pPr>
              <a:lnSpc>
                <a:spcPct val="115000"/>
              </a:lnSpc>
              <a:spcBef>
                <a:spcPts val="500"/>
              </a:spcBef>
              <a:spcAft>
                <a:spcPts val="0"/>
              </a:spcAft>
            </a:pPr>
            <a:r>
              <a:rPr sz="1250" b="1">
                <a:solidFill>
                  <a:srgbClr val="14201B"/>
                </a:solidFill>
                <a:latin typeface="Helvetica Neue"/>
              </a:rPr>
              <a:t>Operational hardening</a:t>
            </a:r>
          </a:p>
          <a:p>
            <a:pPr>
              <a:lnSpc>
                <a:spcPct val="132000"/>
              </a:lnSpc>
              <a:spcBef>
                <a:spcPts val="500"/>
              </a:spcBef>
              <a:spcAft>
                <a:spcPts val="0"/>
              </a:spcAft>
            </a:pPr>
            <a:r>
              <a:rPr sz="950" b="0">
                <a:solidFill>
                  <a:srgbClr val="5D6F66"/>
                </a:solidFill>
                <a:latin typeface="Helvetica Neue"/>
              </a:rPr>
              <a:t>Scheduled backups, restore rehearsed against real removable media, dependency vulnerability scanning, security headers, and a CI pipeline so a release never depends on someone remembering to run the tests.</a:t>
            </a:r>
          </a:p>
        </p:txBody>
      </p:sp>
      <p:sp>
        <p:nvSpPr>
          <p:cNvPr id="9" name="Rounded Rectangle 8"/>
          <p:cNvSpPr/>
          <p:nvPr/>
        </p:nvSpPr>
        <p:spPr>
          <a:xfrm>
            <a:off x="8005876" y="1572768"/>
            <a:ext cx="3527450" cy="1755648"/>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9612" y="1719072"/>
            <a:ext cx="3179978" cy="1481328"/>
          </a:xfrm>
          <a:prstGeom prst="rect">
            <a:avLst/>
          </a:prstGeom>
          <a:noFill/>
        </p:spPr>
        <p:txBody>
          <a:bodyPr wrap="square" lIns="0" rIns="0" tIns="0" bIns="0">
            <a:spAutoFit/>
          </a:bodyPr>
          <a:lstStyle/>
          <a:p>
            <a:pPr>
              <a:spcBef>
                <a:spcPts val="0"/>
              </a:spcBef>
              <a:spcAft>
                <a:spcPts val="0"/>
              </a:spcAft>
            </a:pPr>
            <a:r>
              <a:rPr sz="800" b="1">
                <a:solidFill>
                  <a:srgbClr val="8B2F9D"/>
                </a:solidFill>
                <a:latin typeface="Menlo"/>
              </a:rPr>
              <a:t>LONGER TERM</a:t>
            </a:r>
          </a:p>
          <a:p>
            <a:pPr>
              <a:lnSpc>
                <a:spcPct val="115000"/>
              </a:lnSpc>
              <a:spcBef>
                <a:spcPts val="500"/>
              </a:spcBef>
              <a:spcAft>
                <a:spcPts val="0"/>
              </a:spcAft>
            </a:pPr>
            <a:r>
              <a:rPr sz="1250" b="1">
                <a:solidFill>
                  <a:srgbClr val="14201B"/>
                </a:solidFill>
                <a:latin typeface="Helvetica Neue"/>
              </a:rPr>
              <a:t>The Android tablet build</a:t>
            </a:r>
          </a:p>
          <a:p>
            <a:pPr>
              <a:lnSpc>
                <a:spcPct val="132000"/>
              </a:lnSpc>
              <a:spcBef>
                <a:spcPts val="500"/>
              </a:spcBef>
              <a:spcAft>
                <a:spcPts val="0"/>
              </a:spcAft>
            </a:pPr>
            <a:r>
              <a:rPr sz="950" b="0">
                <a:solidFill>
                  <a:srgbClr val="5D6F66"/>
                </a:solidFill>
                <a:latin typeface="Helvetica Neue"/>
              </a:rPr>
              <a:t>Fully specified with two rejected alternatives documented, but the runtime binaries are not sourced and the bundled database's licensing obligations are unresolved. Treat any date as unestimated.</a:t>
            </a:r>
          </a:p>
        </p:txBody>
      </p:sp>
      <p:sp>
        <p:nvSpPr>
          <p:cNvPr id="11" name="Rectangle 10"/>
          <p:cNvSpPr/>
          <p:nvPr/>
        </p:nvSpPr>
        <p:spPr>
          <a:xfrm>
            <a:off x="658368" y="3511296"/>
            <a:ext cx="10874959" cy="548640"/>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511296"/>
            <a:ext cx="34925" cy="548640"/>
          </a:xfrm>
          <a:prstGeom prst="rect">
            <a:avLst/>
          </a:prstGeom>
          <a:solidFill>
            <a:srgbClr val="1E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593592"/>
            <a:ext cx="10600639" cy="402336"/>
          </a:xfrm>
          <a:prstGeom prst="rect">
            <a:avLst/>
          </a:prstGeom>
          <a:noFill/>
        </p:spPr>
        <p:txBody>
          <a:bodyPr wrap="square" lIns="0" rIns="0" tIns="0" bIns="0">
            <a:spAutoFit/>
          </a:bodyPr>
          <a:lstStyle/>
          <a:p>
            <a:pPr>
              <a:lnSpc>
                <a:spcPct val="128000"/>
              </a:lnSpc>
              <a:spcBef>
                <a:spcPts val="0"/>
              </a:spcBef>
              <a:spcAft>
                <a:spcPts val="0"/>
              </a:spcAft>
            </a:pPr>
            <a:r>
              <a:rPr sz="950" b="0">
                <a:solidFill>
                  <a:srgbClr val="1E6B4B"/>
                </a:solidFill>
                <a:latin typeface="Helvetica Neue"/>
              </a:rPr>
              <a:t>Deliberately NOT on this roadmap: a cloud tier, an online storefront, a subscription, or an artist self-service portal. Those would change what BoothPOS is — a local, one-time-licence till that holds your data on your own machine.</a:t>
            </a:r>
          </a:p>
        </p:txBody>
      </p:sp>
      <p:sp>
        <p:nvSpPr>
          <p:cNvPr id="14" name="TextBox 13"/>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roadmap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08.4  </a:t>
            </a:r>
            <a:r>
              <a:rPr sz="900">
                <a:solidFill>
                  <a:srgbClr val="7E8E86"/>
                </a:solidFill>
                <a:latin typeface="Menlo"/>
              </a:rPr>
              <a:t>GAP</a:t>
            </a:r>
            <a:r>
              <a:rPr sz="900">
                <a:solidFill>
                  <a:srgbClr val="7E8E86"/>
                </a:solidFill>
                <a:latin typeface="Menlo"/>
              </a:rPr>
              <a:t>   ·   INTERNAL ONLY — REMOVE BEFORE SENDING TO A CUSTOMER</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Delivery-side findings.</a:t>
            </a:r>
          </a:p>
        </p:txBody>
      </p:sp>
      <p:sp>
        <p:nvSpPr>
          <p:cNvPr id="5" name="Rounded Rectangle 4"/>
          <p:cNvSpPr/>
          <p:nvPr/>
        </p:nvSpPr>
        <p:spPr>
          <a:xfrm>
            <a:off x="658368" y="160934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86384" y="1746504"/>
            <a:ext cx="960120" cy="219456"/>
          </a:xfrm>
          <a:prstGeom prst="roundRect">
            <a:avLst>
              <a:gd name="adj" fmla="val 20000"/>
            </a:avLst>
          </a:prstGeom>
          <a:solidFill>
            <a:srgbClr val="FBEDEC"/>
          </a:solidFill>
          <a:ln w="6350">
            <a:solidFill>
              <a:srgbClr val="A2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78308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A2534B"/>
                </a:solidFill>
                <a:latin typeface="Menlo"/>
              </a:rPr>
              <a:t>VERIFICATION</a:t>
            </a:r>
          </a:p>
        </p:txBody>
      </p:sp>
      <p:sp>
        <p:nvSpPr>
          <p:cNvPr id="8" name="TextBox 7"/>
          <p:cNvSpPr txBox="1"/>
          <p:nvPr/>
        </p:nvSpPr>
        <p:spPr>
          <a:xfrm>
            <a:off x="1901952" y="171907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Feature 019 (billing &amp; invoicing) shipped without its manual verification steps completed</a:t>
            </a:r>
          </a:p>
          <a:p>
            <a:pPr>
              <a:lnSpc>
                <a:spcPct val="130000"/>
              </a:lnSpc>
              <a:spcBef>
                <a:spcPts val="300"/>
              </a:spcBef>
              <a:spcAft>
                <a:spcPts val="0"/>
              </a:spcAft>
            </a:pPr>
            <a:r>
              <a:rPr sz="900" b="0">
                <a:solidFill>
                  <a:srgbClr val="5D6F66"/>
                </a:solidFill>
                <a:latin typeface="Helvetica Neue"/>
              </a:rPr>
              <a:t>The least-verified area in the product. The fact-check preparing this deck independently found eight inaccuracies there.</a:t>
            </a:r>
          </a:p>
        </p:txBody>
      </p:sp>
      <p:sp>
        <p:nvSpPr>
          <p:cNvPr id="9" name="Rounded Rectangle 8"/>
          <p:cNvSpPr/>
          <p:nvPr/>
        </p:nvSpPr>
        <p:spPr>
          <a:xfrm>
            <a:off x="658368" y="2553004"/>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2690164"/>
            <a:ext cx="960120" cy="219456"/>
          </a:xfrm>
          <a:prstGeom prst="roundRect">
            <a:avLst>
              <a:gd name="adj" fmla="val 20000"/>
            </a:avLst>
          </a:prstGeom>
          <a:solidFill>
            <a:srgbClr val="FBEDEC"/>
          </a:solidFill>
          <a:ln w="6350">
            <a:solidFill>
              <a:srgbClr val="A2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726740"/>
            <a:ext cx="960120" cy="164592"/>
          </a:xfrm>
          <a:prstGeom prst="rect">
            <a:avLst/>
          </a:prstGeom>
          <a:noFill/>
        </p:spPr>
        <p:txBody>
          <a:bodyPr wrap="square" lIns="0" rIns="0" tIns="0" bIns="0">
            <a:spAutoFit/>
          </a:bodyPr>
          <a:lstStyle/>
          <a:p>
            <a:pPr algn="ctr">
              <a:spcBef>
                <a:spcPts val="0"/>
              </a:spcBef>
              <a:spcAft>
                <a:spcPts val="0"/>
              </a:spcAft>
            </a:pPr>
            <a:r>
              <a:rPr sz="750" b="1">
                <a:solidFill>
                  <a:srgbClr val="A2534B"/>
                </a:solidFill>
                <a:latin typeface="Menlo"/>
              </a:rPr>
              <a:t>PROCESS</a:t>
            </a:r>
          </a:p>
        </p:txBody>
      </p:sp>
      <p:sp>
        <p:nvSpPr>
          <p:cNvPr id="12" name="TextBox 11"/>
          <p:cNvSpPr txBox="1"/>
          <p:nvPr/>
        </p:nvSpPr>
        <p:spPr>
          <a:xfrm>
            <a:off x="1901952" y="2662732"/>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No CI pipeline</a:t>
            </a:r>
          </a:p>
          <a:p>
            <a:pPr>
              <a:lnSpc>
                <a:spcPct val="130000"/>
              </a:lnSpc>
              <a:spcBef>
                <a:spcPts val="300"/>
              </a:spcBef>
              <a:spcAft>
                <a:spcPts val="0"/>
              </a:spcAft>
            </a:pPr>
            <a:r>
              <a:rPr sz="900" b="0">
                <a:solidFill>
                  <a:srgbClr val="5D6F66"/>
                </a:solidFill>
                <a:latin typeface="Helvetica Neue"/>
              </a:rPr>
              <a:t>Every release depends on a developer remembering to run the suite locally. Feature 015 showed the risk when ten always-broken tests went unnoticed.</a:t>
            </a:r>
          </a:p>
        </p:txBody>
      </p:sp>
      <p:sp>
        <p:nvSpPr>
          <p:cNvPr id="13" name="Rounded Rectangle 12"/>
          <p:cNvSpPr/>
          <p:nvPr/>
        </p:nvSpPr>
        <p:spPr>
          <a:xfrm>
            <a:off x="658368" y="3496665"/>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6384" y="3633825"/>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670401"/>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DOCS</a:t>
            </a:r>
          </a:p>
        </p:txBody>
      </p:sp>
      <p:sp>
        <p:nvSpPr>
          <p:cNvPr id="16" name="TextBox 15"/>
          <p:cNvSpPr txBox="1"/>
          <p:nvPr/>
        </p:nvSpPr>
        <p:spPr>
          <a:xfrm>
            <a:off x="1901952" y="3606393"/>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Project documentation carries stale claims</a:t>
            </a:r>
          </a:p>
          <a:p>
            <a:pPr>
              <a:lnSpc>
                <a:spcPct val="130000"/>
              </a:lnSpc>
              <a:spcBef>
                <a:spcPts val="300"/>
              </a:spcBef>
              <a:spcAft>
                <a:spcPts val="0"/>
              </a:spcAft>
            </a:pPr>
            <a:r>
              <a:rPr sz="900" b="0">
                <a:solidFill>
                  <a:srgbClr val="5D6F66"/>
                </a:solidFill>
                <a:latin typeface="Helvetica Neue"/>
              </a:rPr>
              <a:t>CLAUDE.md states 214 backend and 44 frontend tests; the measured figures are 492 and 223. The schema document covers roughly half the current schema.</a:t>
            </a:r>
          </a:p>
        </p:txBody>
      </p:sp>
      <p:sp>
        <p:nvSpPr>
          <p:cNvPr id="17" name="Rounded Rectangle 16"/>
          <p:cNvSpPr/>
          <p:nvPr/>
        </p:nvSpPr>
        <p:spPr>
          <a:xfrm>
            <a:off x="658368" y="4440326"/>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6384" y="4577486"/>
            <a:ext cx="960120" cy="219456"/>
          </a:xfrm>
          <a:prstGeom prst="roundRect">
            <a:avLst>
              <a:gd name="adj" fmla="val 20000"/>
            </a:avLst>
          </a:prstGeom>
          <a:solidFill>
            <a:srgbClr val="FBEDEC"/>
          </a:solidFill>
          <a:ln w="6350">
            <a:solidFill>
              <a:srgbClr val="A253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614062"/>
            <a:ext cx="960120" cy="164592"/>
          </a:xfrm>
          <a:prstGeom prst="rect">
            <a:avLst/>
          </a:prstGeom>
          <a:noFill/>
        </p:spPr>
        <p:txBody>
          <a:bodyPr wrap="square" lIns="0" rIns="0" tIns="0" bIns="0">
            <a:spAutoFit/>
          </a:bodyPr>
          <a:lstStyle/>
          <a:p>
            <a:pPr algn="ctr">
              <a:spcBef>
                <a:spcPts val="0"/>
              </a:spcBef>
              <a:spcAft>
                <a:spcPts val="0"/>
              </a:spcAft>
            </a:pPr>
            <a:r>
              <a:rPr sz="750" b="1">
                <a:solidFill>
                  <a:srgbClr val="A2534B"/>
                </a:solidFill>
                <a:latin typeface="Menlo"/>
              </a:rPr>
              <a:t>SECURITY</a:t>
            </a:r>
          </a:p>
        </p:txBody>
      </p:sp>
      <p:sp>
        <p:nvSpPr>
          <p:cNvPr id="20" name="TextBox 19"/>
          <p:cNvSpPr txBox="1"/>
          <p:nvPr/>
        </p:nvSpPr>
        <p:spPr>
          <a:xfrm>
            <a:off x="1901952" y="4550054"/>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Unscanned and unreviewed areas</a:t>
            </a:r>
          </a:p>
          <a:p>
            <a:pPr>
              <a:lnSpc>
                <a:spcPct val="130000"/>
              </a:lnSpc>
              <a:spcBef>
                <a:spcPts val="300"/>
              </a:spcBef>
              <a:spcAft>
                <a:spcPts val="0"/>
              </a:spcAft>
            </a:pPr>
            <a:r>
              <a:rPr sz="900" b="0">
                <a:solidFill>
                  <a:srgbClr val="5D6F66"/>
                </a:solidFill>
                <a:latin typeface="Helvetica Neue"/>
              </a:rPr>
              <a:t>Dependency vulnerability scanning has never been run. Formula injection is possible on every Excel export. Payment-proof images have no retention or deletion path.</a:t>
            </a:r>
          </a:p>
        </p:txBody>
      </p:sp>
      <p:sp>
        <p:nvSpPr>
          <p:cNvPr id="21" name="Rounded Rectangle 20"/>
          <p:cNvSpPr/>
          <p:nvPr/>
        </p:nvSpPr>
        <p:spPr>
          <a:xfrm>
            <a:off x="658368" y="5383987"/>
            <a:ext cx="10874959" cy="833932"/>
          </a:xfrm>
          <a:prstGeom prst="roundRect">
            <a:avLst>
              <a:gd name="adj" fmla="val 4000"/>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5521147"/>
            <a:ext cx="960120" cy="219456"/>
          </a:xfrm>
          <a:prstGeom prst="roundRect">
            <a:avLst>
              <a:gd name="adj" fmla="val 20000"/>
            </a:avLst>
          </a:prstGeom>
          <a:solidFill>
            <a:srgbClr val="FBF7EC"/>
          </a:solidFill>
          <a:ln w="6350">
            <a:solidFill>
              <a:srgbClr val="8A6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557723"/>
            <a:ext cx="960120" cy="164592"/>
          </a:xfrm>
          <a:prstGeom prst="rect">
            <a:avLst/>
          </a:prstGeom>
          <a:noFill/>
        </p:spPr>
        <p:txBody>
          <a:bodyPr wrap="square" lIns="0" rIns="0" tIns="0" bIns="0">
            <a:spAutoFit/>
          </a:bodyPr>
          <a:lstStyle/>
          <a:p>
            <a:pPr algn="ctr">
              <a:spcBef>
                <a:spcPts val="0"/>
              </a:spcBef>
              <a:spcAft>
                <a:spcPts val="0"/>
              </a:spcAft>
            </a:pPr>
            <a:r>
              <a:rPr sz="750" b="1">
                <a:solidFill>
                  <a:srgbClr val="8A6A1E"/>
                </a:solidFill>
                <a:latin typeface="Menlo"/>
              </a:rPr>
              <a:t>DOCKER</a:t>
            </a:r>
          </a:p>
        </p:txBody>
      </p:sp>
      <p:sp>
        <p:nvSpPr>
          <p:cNvPr id="24" name="TextBox 23"/>
          <p:cNvSpPr txBox="1"/>
          <p:nvPr/>
        </p:nvSpPr>
        <p:spPr>
          <a:xfrm>
            <a:off x="1901952" y="5493715"/>
            <a:ext cx="9411919" cy="651052"/>
          </a:xfrm>
          <a:prstGeom prst="rect">
            <a:avLst/>
          </a:prstGeom>
          <a:noFill/>
        </p:spPr>
        <p:txBody>
          <a:bodyPr wrap="square" lIns="0" rIns="0" tIns="0" bIns="0">
            <a:spAutoFit/>
          </a:bodyPr>
          <a:lstStyle/>
          <a:p>
            <a:pPr>
              <a:spcBef>
                <a:spcPts val="0"/>
              </a:spcBef>
              <a:spcAft>
                <a:spcPts val="0"/>
              </a:spcAft>
            </a:pPr>
            <a:r>
              <a:rPr sz="1150" b="1">
                <a:solidFill>
                  <a:srgbClr val="14201B"/>
                </a:solidFill>
                <a:latin typeface="Helvetica Neue"/>
              </a:rPr>
              <a:t>Two concrete defects in the store deployment path</a:t>
            </a:r>
          </a:p>
          <a:p>
            <a:pPr>
              <a:lnSpc>
                <a:spcPct val="130000"/>
              </a:lnSpc>
              <a:spcBef>
                <a:spcPts val="300"/>
              </a:spcBef>
              <a:spcAft>
                <a:spcPts val="0"/>
              </a:spcAft>
            </a:pPr>
            <a:r>
              <a:rPr sz="900" b="0">
                <a:solidFill>
                  <a:srgbClr val="5D6F66"/>
                </a:solidFill>
                <a:latin typeface="Helvetica Neue"/>
              </a:rPr>
              <a:t>The release tarball's image tag does not match the compose file default, so the offline start command falls back to building from source. And storage:link is never run, so uploaded images 404.</a:t>
            </a:r>
          </a:p>
        </p:txBody>
      </p:sp>
      <p:sp>
        <p:nvSpPr>
          <p:cNvPr id="25" name="TextBox 24"/>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internal only — remove before sending to a customer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A1  </a:t>
            </a:r>
            <a:r>
              <a:rPr sz="900">
                <a:solidFill>
                  <a:srgbClr val="7E8E86"/>
                </a:solidFill>
                <a:latin typeface="Menlo"/>
              </a:rPr>
              <a:t>APPENDIX</a:t>
            </a:r>
            <a:r>
              <a:rPr sz="900">
                <a:solidFill>
                  <a:srgbClr val="7E8E86"/>
                </a:solidFill>
                <a:latin typeface="Menlo"/>
              </a:rPr>
              <a:t>   ·   EVERY REMAINING SCREEN · 1 OF 2</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Selling, stock and the day's paperwork.</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login.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Sign in. A username, not an email. Always Indonesian, whatever the interface language.</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pos.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The till at rest. Product grid, seller and category filters, empty cart, draft controls.</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9-pos-payment.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Payment, single method. Tendered-cash shortcuts and automatic change.</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4-cashier-session.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Shift overview. Live transaction count, takings and float while trading.</a:t>
            </a:r>
          </a:p>
        </p:txBody>
      </p:sp>
      <p:sp>
        <p:nvSpPr>
          <p:cNvPr id="17" name="Rectangle 16"/>
          <p:cNvSpPr/>
          <p:nvPr/>
        </p:nvSpPr>
        <p:spPr>
          <a:xfrm>
            <a:off x="639318"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37-sales-items-popup.jpg"/>
          <p:cNvPicPr>
            <a:picLocks noChangeAspect="1"/>
          </p:cNvPicPr>
          <p:nvPr/>
        </p:nvPicPr>
        <p:blipFill>
          <a:blip r:embed="rId6"/>
          <a:stretch>
            <a:fillRect/>
          </a:stretch>
        </p:blipFill>
        <p:spPr>
          <a:xfrm>
            <a:off x="658368" y="3877056"/>
            <a:ext cx="2595295" cy="1622059"/>
          </a:xfrm>
          <a:prstGeom prst="rect">
            <a:avLst/>
          </a:prstGeom>
        </p:spPr>
      </p:pic>
      <p:sp>
        <p:nvSpPr>
          <p:cNvPr id="19" name="TextBox 18"/>
          <p:cNvSpPr txBox="1"/>
          <p:nvPr/>
        </p:nvSpPr>
        <p:spPr>
          <a:xfrm>
            <a:off x="658368"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Products sold. The line detail behind any past transaction.</a:t>
            </a:r>
          </a:p>
        </p:txBody>
      </p:sp>
      <p:sp>
        <p:nvSpPr>
          <p:cNvPr id="20" name="Rectangle 19"/>
          <p:cNvSpPr/>
          <p:nvPr/>
        </p:nvSpPr>
        <p:spPr>
          <a:xfrm>
            <a:off x="3399205"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41-product-detail.jpg"/>
          <p:cNvPicPr>
            <a:picLocks noChangeAspect="1"/>
          </p:cNvPicPr>
          <p:nvPr/>
        </p:nvPicPr>
        <p:blipFill>
          <a:blip r:embed="rId7"/>
          <a:stretch>
            <a:fillRect/>
          </a:stretch>
        </p:blipFill>
        <p:spPr>
          <a:xfrm>
            <a:off x="3418255" y="3877056"/>
            <a:ext cx="2595295" cy="1622059"/>
          </a:xfrm>
          <a:prstGeom prst="rect">
            <a:avLst/>
          </a:prstGeom>
        </p:spPr>
      </p:pic>
      <p:sp>
        <p:nvSpPr>
          <p:cNvPr id="22" name="TextBox 21"/>
          <p:cNvSpPr txBox="1"/>
          <p:nvPr/>
        </p:nvSpPr>
        <p:spPr>
          <a:xfrm>
            <a:off x="3418255"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Product detail. Every variant with its own item code, price and stock.</a:t>
            </a:r>
          </a:p>
        </p:txBody>
      </p:sp>
      <p:sp>
        <p:nvSpPr>
          <p:cNvPr id="23" name="Rectangle 22"/>
          <p:cNvSpPr/>
          <p:nvPr/>
        </p:nvSpPr>
        <p:spPr>
          <a:xfrm>
            <a:off x="6159093"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43-stock-adjustment.jpg"/>
          <p:cNvPicPr>
            <a:picLocks noChangeAspect="1"/>
          </p:cNvPicPr>
          <p:nvPr/>
        </p:nvPicPr>
        <p:blipFill>
          <a:blip r:embed="rId8"/>
          <a:stretch>
            <a:fillRect/>
          </a:stretch>
        </p:blipFill>
        <p:spPr>
          <a:xfrm>
            <a:off x="6178143" y="3877056"/>
            <a:ext cx="2595295" cy="1622059"/>
          </a:xfrm>
          <a:prstGeom prst="rect">
            <a:avLst/>
          </a:prstGeom>
        </p:spPr>
      </p:pic>
      <p:sp>
        <p:nvSpPr>
          <p:cNvPr id="25" name="TextBox 24"/>
          <p:cNvSpPr txBox="1"/>
          <p:nvPr/>
        </p:nvSpPr>
        <p:spPr>
          <a:xfrm>
            <a:off x="6178143"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Stock adjustment. A reason is mandatory; each line writes one movement.</a:t>
            </a:r>
          </a:p>
        </p:txBody>
      </p:sp>
      <p:sp>
        <p:nvSpPr>
          <p:cNvPr id="26" name="Rectangle 25"/>
          <p:cNvSpPr/>
          <p:nvPr/>
        </p:nvSpPr>
        <p:spPr>
          <a:xfrm>
            <a:off x="8918981"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50-event-detail.jpg"/>
          <p:cNvPicPr>
            <a:picLocks noChangeAspect="1"/>
          </p:cNvPicPr>
          <p:nvPr/>
        </p:nvPicPr>
        <p:blipFill>
          <a:blip r:embed="rId9"/>
          <a:stretch>
            <a:fillRect/>
          </a:stretch>
        </p:blipFill>
        <p:spPr>
          <a:xfrm>
            <a:off x="8938031" y="3877056"/>
            <a:ext cx="2595295" cy="1622059"/>
          </a:xfrm>
          <a:prstGeom prst="rect">
            <a:avLst/>
          </a:prstGeom>
        </p:spPr>
      </p:pic>
      <p:sp>
        <p:nvSpPr>
          <p:cNvPr id="28" name="TextBox 27"/>
          <p:cNvSpPr txBox="1"/>
          <p:nvPr/>
        </p:nvSpPr>
        <p:spPr>
          <a:xfrm>
            <a:off x="8938031"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Event. Name, location, dates and the event cost used by the profit report.</a:t>
            </a:r>
          </a:p>
        </p:txBody>
      </p:sp>
      <p:sp>
        <p:nvSpPr>
          <p:cNvPr id="29" name="TextBox 2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boothpos · every remaining screen · 1 of 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658368" y="384048"/>
            <a:ext cx="10874959" cy="237744"/>
          </a:xfrm>
          <a:prstGeom prst="rect">
            <a:avLst/>
          </a:prstGeom>
          <a:noFill/>
        </p:spPr>
        <p:txBody>
          <a:bodyPr wrap="square" lIns="0" rIns="0" tIns="0" bIns="0">
            <a:spAutoFit/>
          </a:bodyPr>
          <a:lstStyle/>
          <a:p>
            <a:r>
              <a:rPr sz="900" b="1">
                <a:solidFill>
                  <a:srgbClr val="8B2F9D"/>
                </a:solidFill>
                <a:latin typeface="Menlo"/>
              </a:rPr>
              <a:t>A2  </a:t>
            </a:r>
            <a:r>
              <a:rPr sz="900">
                <a:solidFill>
                  <a:srgbClr val="7E8E86"/>
                </a:solidFill>
                <a:latin typeface="Menlo"/>
              </a:rPr>
              <a:t>APPENDIX</a:t>
            </a:r>
            <a:r>
              <a:rPr sz="900">
                <a:solidFill>
                  <a:srgbClr val="7E8E86"/>
                </a:solidFill>
                <a:latin typeface="Menlo"/>
              </a:rPr>
              <a:t>   ·   EVERY REMAINING SCREEN · 2 OF 2</a:t>
            </a:r>
          </a:p>
        </p:txBody>
      </p:sp>
      <p:sp>
        <p:nvSpPr>
          <p:cNvPr id="3" name="Rectangle 2"/>
          <p:cNvSpPr/>
          <p:nvPr/>
        </p:nvSpPr>
        <p:spPr>
          <a:xfrm>
            <a:off x="658368" y="694944"/>
            <a:ext cx="10874959" cy="9525"/>
          </a:xfrm>
          <a:prstGeom prst="rect">
            <a:avLst/>
          </a:prstGeom>
          <a:solidFill>
            <a:srgbClr val="DA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896112"/>
            <a:ext cx="10874959" cy="914400"/>
          </a:xfrm>
          <a:prstGeom prst="rect">
            <a:avLst/>
          </a:prstGeom>
          <a:noFill/>
        </p:spPr>
        <p:txBody>
          <a:bodyPr wrap="square" lIns="0" rIns="0" tIns="0" bIns="0">
            <a:spAutoFit/>
          </a:bodyPr>
          <a:lstStyle/>
          <a:p>
            <a:pPr>
              <a:lnSpc>
                <a:spcPct val="106000"/>
              </a:lnSpc>
              <a:spcBef>
                <a:spcPts val="0"/>
              </a:spcBef>
              <a:spcAft>
                <a:spcPts val="0"/>
              </a:spcAft>
            </a:pPr>
            <a:r>
              <a:rPr sz="3000" b="1">
                <a:solidFill>
                  <a:srgbClr val="14201B"/>
                </a:solidFill>
                <a:latin typeface="Helvetica Neue"/>
              </a:rPr>
              <a:t>Purchasing, administration and the business side.</a:t>
            </a:r>
          </a:p>
        </p:txBody>
      </p:sp>
      <p:sp>
        <p:nvSpPr>
          <p:cNvPr id="5" name="Rectangle 4"/>
          <p:cNvSpPr/>
          <p:nvPr/>
        </p:nvSpPr>
        <p:spPr>
          <a:xfrm>
            <a:off x="639318"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3-purchase-orders.jpg"/>
          <p:cNvPicPr>
            <a:picLocks noChangeAspect="1"/>
          </p:cNvPicPr>
          <p:nvPr/>
        </p:nvPicPr>
        <p:blipFill>
          <a:blip r:embed="rId2"/>
          <a:stretch>
            <a:fillRect/>
          </a:stretch>
        </p:blipFill>
        <p:spPr>
          <a:xfrm>
            <a:off x="658368" y="1645920"/>
            <a:ext cx="2595295" cy="1622059"/>
          </a:xfrm>
          <a:prstGeom prst="rect">
            <a:avLst/>
          </a:prstGeom>
        </p:spPr>
      </p:pic>
      <p:sp>
        <p:nvSpPr>
          <p:cNvPr id="7" name="TextBox 6"/>
          <p:cNvSpPr txBox="1"/>
          <p:nvPr/>
        </p:nvSpPr>
        <p:spPr>
          <a:xfrm>
            <a:off x="658368"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Purchase orders. Supplier, status, date and value per order.</a:t>
            </a:r>
          </a:p>
        </p:txBody>
      </p:sp>
      <p:sp>
        <p:nvSpPr>
          <p:cNvPr id="8" name="Rectangle 7"/>
          <p:cNvSpPr/>
          <p:nvPr/>
        </p:nvSpPr>
        <p:spPr>
          <a:xfrm>
            <a:off x="3399205"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9-roles.jpg"/>
          <p:cNvPicPr>
            <a:picLocks noChangeAspect="1"/>
          </p:cNvPicPr>
          <p:nvPr/>
        </p:nvPicPr>
        <p:blipFill>
          <a:blip r:embed="rId3"/>
          <a:stretch>
            <a:fillRect/>
          </a:stretch>
        </p:blipFill>
        <p:spPr>
          <a:xfrm>
            <a:off x="3418255" y="1645920"/>
            <a:ext cx="2595295" cy="1622059"/>
          </a:xfrm>
          <a:prstGeom prst="rect">
            <a:avLst/>
          </a:prstGeom>
        </p:spPr>
      </p:pic>
      <p:sp>
        <p:nvSpPr>
          <p:cNvPr id="10" name="TextBox 9"/>
          <p:cNvSpPr txBox="1"/>
          <p:nvPr/>
        </p:nvSpPr>
        <p:spPr>
          <a:xfrm>
            <a:off x="3418255"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Roles. Four ship ready; a role is just a set of screen permissions.</a:t>
            </a:r>
          </a:p>
        </p:txBody>
      </p:sp>
      <p:sp>
        <p:nvSpPr>
          <p:cNvPr id="11" name="Rectangle 10"/>
          <p:cNvSpPr/>
          <p:nvPr/>
        </p:nvSpPr>
        <p:spPr>
          <a:xfrm>
            <a:off x="6159093"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2-profile.jpg"/>
          <p:cNvPicPr>
            <a:picLocks noChangeAspect="1"/>
          </p:cNvPicPr>
          <p:nvPr/>
        </p:nvPicPr>
        <p:blipFill>
          <a:blip r:embed="rId4"/>
          <a:stretch>
            <a:fillRect/>
          </a:stretch>
        </p:blipFill>
        <p:spPr>
          <a:xfrm>
            <a:off x="6178143" y="1645920"/>
            <a:ext cx="2595295" cy="1622059"/>
          </a:xfrm>
          <a:prstGeom prst="rect">
            <a:avLst/>
          </a:prstGeom>
        </p:spPr>
      </p:pic>
      <p:sp>
        <p:nvSpPr>
          <p:cNvPr id="13" name="TextBox 12"/>
          <p:cNvSpPr txBox="1"/>
          <p:nvPr/>
        </p:nvSpPr>
        <p:spPr>
          <a:xfrm>
            <a:off x="6178143"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Profile. Each person changes their own password and photo.</a:t>
            </a:r>
          </a:p>
        </p:txBody>
      </p:sp>
      <p:sp>
        <p:nvSpPr>
          <p:cNvPr id="14" name="Rectangle 13"/>
          <p:cNvSpPr/>
          <p:nvPr/>
        </p:nvSpPr>
        <p:spPr>
          <a:xfrm>
            <a:off x="8918981" y="1626870"/>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25-invoices.jpg"/>
          <p:cNvPicPr>
            <a:picLocks noChangeAspect="1"/>
          </p:cNvPicPr>
          <p:nvPr/>
        </p:nvPicPr>
        <p:blipFill>
          <a:blip r:embed="rId5"/>
          <a:stretch>
            <a:fillRect/>
          </a:stretch>
        </p:blipFill>
        <p:spPr>
          <a:xfrm>
            <a:off x="8938031" y="1645920"/>
            <a:ext cx="2595295" cy="1622059"/>
          </a:xfrm>
          <a:prstGeom prst="rect">
            <a:avLst/>
          </a:prstGeom>
        </p:spPr>
      </p:pic>
      <p:sp>
        <p:nvSpPr>
          <p:cNvPr id="16" name="TextBox 15"/>
          <p:cNvSpPr txBox="1"/>
          <p:nvPr/>
        </p:nvSpPr>
        <p:spPr>
          <a:xfrm>
            <a:off x="8938031" y="3350275"/>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Invoice list. Summary tiles above, status filter on the list.</a:t>
            </a:r>
          </a:p>
        </p:txBody>
      </p:sp>
      <p:sp>
        <p:nvSpPr>
          <p:cNvPr id="17" name="Rectangle 16"/>
          <p:cNvSpPr/>
          <p:nvPr/>
        </p:nvSpPr>
        <p:spPr>
          <a:xfrm>
            <a:off x="639318"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23-companies.jpg"/>
          <p:cNvPicPr>
            <a:picLocks noChangeAspect="1"/>
          </p:cNvPicPr>
          <p:nvPr/>
        </p:nvPicPr>
        <p:blipFill>
          <a:blip r:embed="rId6"/>
          <a:stretch>
            <a:fillRect/>
          </a:stretch>
        </p:blipFill>
        <p:spPr>
          <a:xfrm>
            <a:off x="658368" y="3877056"/>
            <a:ext cx="2595295" cy="1622059"/>
          </a:xfrm>
          <a:prstGeom prst="rect">
            <a:avLst/>
          </a:prstGeom>
        </p:spPr>
      </p:pic>
      <p:sp>
        <p:nvSpPr>
          <p:cNvPr id="19" name="TextBox 18"/>
          <p:cNvSpPr txBox="1"/>
          <p:nvPr/>
        </p:nvSpPr>
        <p:spPr>
          <a:xfrm>
            <a:off x="658368"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Companies. An internal onboarding tracker, not a multi-tenant runtime.</a:t>
            </a:r>
          </a:p>
        </p:txBody>
      </p:sp>
      <p:sp>
        <p:nvSpPr>
          <p:cNvPr id="20" name="Rectangle 19"/>
          <p:cNvSpPr/>
          <p:nvPr/>
        </p:nvSpPr>
        <p:spPr>
          <a:xfrm>
            <a:off x="3399205"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24-licenses.jpg"/>
          <p:cNvPicPr>
            <a:picLocks noChangeAspect="1"/>
          </p:cNvPicPr>
          <p:nvPr/>
        </p:nvPicPr>
        <p:blipFill>
          <a:blip r:embed="rId7"/>
          <a:stretch>
            <a:fillRect/>
          </a:stretch>
        </p:blipFill>
        <p:spPr>
          <a:xfrm>
            <a:off x="3418255" y="3877056"/>
            <a:ext cx="2595295" cy="1622059"/>
          </a:xfrm>
          <a:prstGeom prst="rect">
            <a:avLst/>
          </a:prstGeom>
        </p:spPr>
      </p:pic>
      <p:sp>
        <p:nvSpPr>
          <p:cNvPr id="22" name="TextBox 21"/>
          <p:cNvSpPr txBox="1"/>
          <p:nvPr/>
        </p:nvSpPr>
        <p:spPr>
          <a:xfrm>
            <a:off x="3418255"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Licence catalogue. Each package with tier, price and payment label.</a:t>
            </a:r>
          </a:p>
        </p:txBody>
      </p:sp>
      <p:sp>
        <p:nvSpPr>
          <p:cNvPr id="23" name="Rectangle 22"/>
          <p:cNvSpPr/>
          <p:nvPr/>
        </p:nvSpPr>
        <p:spPr>
          <a:xfrm>
            <a:off x="6159093"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45-invoice-document.jpg"/>
          <p:cNvPicPr>
            <a:picLocks noChangeAspect="1"/>
          </p:cNvPicPr>
          <p:nvPr/>
        </p:nvPicPr>
        <p:blipFill>
          <a:blip r:embed="rId8"/>
          <a:stretch>
            <a:fillRect/>
          </a:stretch>
        </p:blipFill>
        <p:spPr>
          <a:xfrm>
            <a:off x="6178143" y="3877056"/>
            <a:ext cx="2595295" cy="1622059"/>
          </a:xfrm>
          <a:prstGeom prst="rect">
            <a:avLst/>
          </a:prstGeom>
        </p:spPr>
      </p:pic>
      <p:sp>
        <p:nvSpPr>
          <p:cNvPr id="25" name="TextBox 24"/>
          <p:cNvSpPr txBox="1"/>
          <p:nvPr/>
        </p:nvSpPr>
        <p:spPr>
          <a:xfrm>
            <a:off x="6178143"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Invoice. Generated number, frozen money totals, PDF download.</a:t>
            </a:r>
          </a:p>
        </p:txBody>
      </p:sp>
      <p:sp>
        <p:nvSpPr>
          <p:cNvPr id="26" name="Rectangle 25"/>
          <p:cNvSpPr/>
          <p:nvPr/>
        </p:nvSpPr>
        <p:spPr>
          <a:xfrm>
            <a:off x="8918981" y="3858006"/>
            <a:ext cx="2633395" cy="1660159"/>
          </a:xfrm>
          <a:prstGeom prst="rect">
            <a:avLst/>
          </a:prstGeom>
          <a:solidFill>
            <a:srgbClr val="FFFFFF"/>
          </a:solidFill>
          <a:ln w="9525">
            <a:solidFill>
              <a:srgbClr val="DA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46-company-detail.jpg"/>
          <p:cNvPicPr>
            <a:picLocks noChangeAspect="1"/>
          </p:cNvPicPr>
          <p:nvPr/>
        </p:nvPicPr>
        <p:blipFill>
          <a:blip r:embed="rId9"/>
          <a:stretch>
            <a:fillRect/>
          </a:stretch>
        </p:blipFill>
        <p:spPr>
          <a:xfrm>
            <a:off x="8938031" y="3877056"/>
            <a:ext cx="2595295" cy="1622059"/>
          </a:xfrm>
          <a:prstGeom prst="rect">
            <a:avLst/>
          </a:prstGeom>
        </p:spPr>
      </p:pic>
      <p:sp>
        <p:nvSpPr>
          <p:cNvPr id="28" name="TextBox 27"/>
          <p:cNvSpPr txBox="1"/>
          <p:nvPr/>
        </p:nvSpPr>
        <p:spPr>
          <a:xfrm>
            <a:off x="8938031" y="5581411"/>
            <a:ext cx="2595295" cy="548640"/>
          </a:xfrm>
          <a:prstGeom prst="rect">
            <a:avLst/>
          </a:prstGeom>
          <a:noFill/>
        </p:spPr>
        <p:txBody>
          <a:bodyPr wrap="square" lIns="0" rIns="0" tIns="0" bIns="0">
            <a:spAutoFit/>
          </a:bodyPr>
          <a:lstStyle/>
          <a:p>
            <a:pPr>
              <a:lnSpc>
                <a:spcPct val="130000"/>
              </a:lnSpc>
              <a:spcBef>
                <a:spcPts val="0"/>
              </a:spcBef>
              <a:spcAft>
                <a:spcPts val="0"/>
              </a:spcAft>
            </a:pPr>
            <a:r>
              <a:rPr sz="800" b="0">
                <a:solidFill>
                  <a:srgbClr val="7E8E86"/>
                </a:solidFill>
                <a:latin typeface="Helvetica Neue"/>
              </a:rPr>
              <a:t>Company. Business type, licence package, contact and the owner account.</a:t>
            </a:r>
          </a:p>
        </p:txBody>
      </p:sp>
      <p:sp>
        <p:nvSpPr>
          <p:cNvPr id="29" name="TextBox 2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7E8E86"/>
                </a:solidFill>
                <a:latin typeface="Menlo"/>
              </a:rPr>
              <a:t>All 53 screenshots were captured from the running application in a real browser at 1440x900, against the seeded demo dataset. No mockups, no composites, no retouching.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201B"/>
        </a:solidFill>
        <a:effectLst/>
      </p:bgPr>
    </p:bg>
    <p:spTree>
      <p:nvGrpSpPr>
        <p:cNvPr id="1" name=""/>
        <p:cNvGrpSpPr/>
        <p:nvPr/>
      </p:nvGrpSpPr>
      <p:grpSpPr/>
      <p:sp>
        <p:nvSpPr>
          <p:cNvPr id="2" name="Rounded Rectangle 1"/>
          <p:cNvSpPr/>
          <p:nvPr/>
        </p:nvSpPr>
        <p:spPr>
          <a:xfrm>
            <a:off x="658368" y="566928"/>
            <a:ext cx="274320" cy="274320"/>
          </a:xfrm>
          <a:prstGeom prst="roundRect">
            <a:avLst>
              <a:gd name="adj" fmla="val 22000"/>
            </a:avLst>
          </a:prstGeom>
          <a:solidFill>
            <a:srgbClr val="2F9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08076"/>
            <a:ext cx="274320" cy="201168"/>
          </a:xfrm>
          <a:prstGeom prst="rect">
            <a:avLst/>
          </a:prstGeom>
          <a:noFill/>
        </p:spPr>
        <p:txBody>
          <a:bodyPr wrap="square" lIns="0" rIns="0" tIns="0" bIns="0">
            <a:spAutoFit/>
          </a:bodyPr>
          <a:lstStyle/>
          <a:p>
            <a:pPr algn="ctr">
              <a:spcBef>
                <a:spcPts val="0"/>
              </a:spcBef>
              <a:spcAft>
                <a:spcPts val="0"/>
              </a:spcAft>
            </a:pPr>
            <a:r>
              <a:rPr sz="1200" b="1">
                <a:solidFill>
                  <a:srgbClr val="14201B"/>
                </a:solidFill>
                <a:latin typeface="Helvetica Neue"/>
              </a:rPr>
              <a:t>B</a:t>
            </a:r>
          </a:p>
        </p:txBody>
      </p:sp>
      <p:sp>
        <p:nvSpPr>
          <p:cNvPr id="4" name="TextBox 3"/>
          <p:cNvSpPr txBox="1"/>
          <p:nvPr/>
        </p:nvSpPr>
        <p:spPr>
          <a:xfrm>
            <a:off x="1042416" y="603504"/>
            <a:ext cx="3657600" cy="237744"/>
          </a:xfrm>
          <a:prstGeom prst="rect">
            <a:avLst/>
          </a:prstGeom>
          <a:noFill/>
        </p:spPr>
        <p:txBody>
          <a:bodyPr wrap="square" lIns="0" rIns="0" tIns="0" bIns="0">
            <a:spAutoFit/>
          </a:bodyPr>
          <a:lstStyle/>
          <a:p>
            <a:pPr>
              <a:spcBef>
                <a:spcPts val="0"/>
              </a:spcBef>
              <a:spcAft>
                <a:spcPts val="0"/>
              </a:spcAft>
            </a:pPr>
            <a:r>
              <a:rPr sz="1050" b="1">
                <a:solidFill>
                  <a:srgbClr val="8FC9AE"/>
                </a:solidFill>
                <a:latin typeface="Menlo"/>
              </a:rPr>
              <a:t>B o o t h P O S</a:t>
            </a:r>
          </a:p>
        </p:txBody>
      </p:sp>
      <p:sp>
        <p:nvSpPr>
          <p:cNvPr id="5" name="TextBox 4"/>
          <p:cNvSpPr txBox="1"/>
          <p:nvPr/>
        </p:nvSpPr>
        <p:spPr>
          <a:xfrm>
            <a:off x="658368" y="1554480"/>
            <a:ext cx="6583680" cy="2011680"/>
          </a:xfrm>
          <a:prstGeom prst="rect">
            <a:avLst/>
          </a:prstGeom>
          <a:noFill/>
        </p:spPr>
        <p:txBody>
          <a:bodyPr wrap="square" lIns="0" rIns="0" tIns="0" bIns="0">
            <a:spAutoFit/>
          </a:bodyPr>
          <a:lstStyle/>
          <a:p>
            <a:pPr>
              <a:lnSpc>
                <a:spcPct val="105000"/>
              </a:lnSpc>
              <a:spcBef>
                <a:spcPts val="0"/>
              </a:spcBef>
              <a:spcAft>
                <a:spcPts val="0"/>
              </a:spcAft>
            </a:pPr>
            <a:r>
              <a:rPr sz="4000" b="1">
                <a:solidFill>
                  <a:srgbClr val="FFFFFF"/>
                </a:solidFill>
                <a:latin typeface="Helvetica Neue"/>
              </a:rPr>
              <a:t>Sell all weekend.
Settle the same evening.</a:t>
            </a:r>
          </a:p>
        </p:txBody>
      </p:sp>
      <p:sp>
        <p:nvSpPr>
          <p:cNvPr id="6" name="TextBox 5"/>
          <p:cNvSpPr txBox="1"/>
          <p:nvPr/>
        </p:nvSpPr>
        <p:spPr>
          <a:xfrm>
            <a:off x="658368" y="3429000"/>
            <a:ext cx="6217920" cy="1097280"/>
          </a:xfrm>
          <a:prstGeom prst="rect">
            <a:avLst/>
          </a:prstGeom>
          <a:noFill/>
        </p:spPr>
        <p:txBody>
          <a:bodyPr wrap="square" lIns="0" rIns="0" tIns="0" bIns="0">
            <a:spAutoFit/>
          </a:bodyPr>
          <a:lstStyle/>
          <a:p>
            <a:pPr>
              <a:lnSpc>
                <a:spcPct val="142000"/>
              </a:lnSpc>
              <a:spcBef>
                <a:spcPts val="0"/>
              </a:spcBef>
              <a:spcAft>
                <a:spcPts val="0"/>
              </a:spcAft>
            </a:pPr>
            <a:r>
              <a:rPr sz="1300" b="0">
                <a:solidFill>
                  <a:srgbClr val="9DB0A7"/>
                </a:solidFill>
                <a:latin typeface="Helvetica Neue"/>
              </a:rPr>
              <a:t>One laptop, one licence, no subscription and no cloud. Every sale tied to its event and its seller, every figure computed by the server, and an honest list of what it does not yet do.</a:t>
            </a:r>
          </a:p>
        </p:txBody>
      </p:sp>
      <p:sp>
        <p:nvSpPr>
          <p:cNvPr id="7" name="Rounded Rectangle 6"/>
          <p:cNvSpPr/>
          <p:nvPr/>
        </p:nvSpPr>
        <p:spPr>
          <a:xfrm>
            <a:off x="7699248" y="2286000"/>
            <a:ext cx="3840480" cy="2286000"/>
          </a:xfrm>
          <a:prstGeom prst="roundRect">
            <a:avLst>
              <a:gd name="adj" fmla="val 4000"/>
            </a:avLst>
          </a:prstGeom>
          <a:solidFill>
            <a:srgbClr val="22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82127" y="2468880"/>
            <a:ext cx="3474720" cy="1920240"/>
          </a:xfrm>
          <a:prstGeom prst="rect">
            <a:avLst/>
          </a:prstGeom>
          <a:noFill/>
        </p:spPr>
        <p:txBody>
          <a:bodyPr wrap="square" lIns="0" rIns="0" tIns="0" bIns="0">
            <a:spAutoFit/>
          </a:bodyPr>
          <a:lstStyle/>
          <a:p>
            <a:pPr>
              <a:spcBef>
                <a:spcPts val="0"/>
              </a:spcBef>
              <a:spcAft>
                <a:spcPts val="0"/>
              </a:spcAft>
            </a:pPr>
            <a:r>
              <a:rPr sz="800" b="1">
                <a:solidFill>
                  <a:srgbClr val="8FC9AE"/>
                </a:solidFill>
                <a:latin typeface="Menlo"/>
              </a:rPr>
              <a:t>TRY IT BEFORE YOU COMMIT</a:t>
            </a:r>
          </a:p>
          <a:p>
            <a:pPr>
              <a:lnSpc>
                <a:spcPct val="140000"/>
              </a:lnSpc>
              <a:spcBef>
                <a:spcPts val="800"/>
              </a:spcBef>
              <a:spcAft>
                <a:spcPts val="0"/>
              </a:spcAft>
            </a:pPr>
            <a:r>
              <a:rPr sz="1100" b="0">
                <a:solidFill>
                  <a:srgbClr val="FFFFFF"/>
                </a:solidFill>
                <a:latin typeface="Helvetica Neue"/>
              </a:rPr>
              <a:t>Switch the installation to DEMO mode and rehearse a complete event day — open a shift, take split payments, run a pre-order through arrival and handover, settle every seller — on data that never touches your real books.</a:t>
            </a:r>
          </a:p>
          <a:p>
            <a:pPr>
              <a:spcBef>
                <a:spcPts val="800"/>
              </a:spcBef>
              <a:spcAft>
                <a:spcPts val="0"/>
              </a:spcAft>
            </a:pPr>
            <a:r>
              <a:rPr sz="1000" b="0">
                <a:solidFill>
                  <a:srgbClr val="8FC9AE"/>
                </a:solidFill>
                <a:latin typeface="Helvetica Neue"/>
              </a:rPr>
              <a:t>Then switch to LIVE and start trading.</a:t>
            </a:r>
          </a:p>
        </p:txBody>
      </p:sp>
      <p:sp>
        <p:nvSpPr>
          <p:cNvPr id="9" name="TextBox 8"/>
          <p:cNvSpPr txBox="1"/>
          <p:nvPr/>
        </p:nvSpPr>
        <p:spPr>
          <a:xfrm>
            <a:off x="658368" y="6382512"/>
            <a:ext cx="10874959" cy="219456"/>
          </a:xfrm>
          <a:prstGeom prst="rect">
            <a:avLst/>
          </a:prstGeom>
          <a:noFill/>
        </p:spPr>
        <p:txBody>
          <a:bodyPr wrap="square" lIns="0" rIns="0" tIns="0" bIns="0">
            <a:spAutoFit/>
          </a:bodyPr>
          <a:lstStyle/>
          <a:p>
            <a:pPr>
              <a:spcBef>
                <a:spcPts val="0"/>
              </a:spcBef>
              <a:spcAft>
                <a:spcPts val="0"/>
              </a:spcAft>
            </a:pPr>
            <a:r>
              <a:rPr sz="800" b="0">
                <a:solidFill>
                  <a:srgbClr val="9DB0A7"/>
                </a:solidFill>
                <a:latin typeface="Menlo"/>
              </a:rPr>
              <a:t>Deck compiled 10 September 2026 from the running application. Feature claims checked against source: 66 confirmed, 41 corrected before publication.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